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6" r:id="rId9"/>
    <p:sldId id="270" r:id="rId10"/>
    <p:sldId id="275" r:id="rId11"/>
    <p:sldId id="265" r:id="rId12"/>
    <p:sldId id="271" r:id="rId13"/>
    <p:sldId id="280" r:id="rId14"/>
    <p:sldId id="277" r:id="rId15"/>
    <p:sldId id="278" r:id="rId16"/>
    <p:sldId id="279" r:id="rId17"/>
    <p:sldId id="274" r:id="rId18"/>
    <p:sldId id="272" r:id="rId19"/>
    <p:sldId id="273" r:id="rId20"/>
    <p:sldId id="268" r:id="rId21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7472">
          <p15:clr>
            <a:srgbClr val="A4A3A4"/>
          </p15:clr>
        </p15:guide>
        <p15:guide id="3" pos="212">
          <p15:clr>
            <a:srgbClr val="A4A3A4"/>
          </p15:clr>
        </p15:guide>
        <p15:guide id="4" pos="38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06EBC-F42E-674B-ECD6-98735F0DBDB3}" v="5" dt="2025-12-09T06:12:52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84"/>
      </p:cViewPr>
      <p:guideLst>
        <p:guide orient="horz" pos="2158"/>
        <p:guide pos="7472"/>
        <p:guide pos="212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AEFB7-66BA-4D75-A777-AB8F84D9694E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D62089-6184-4152-B217-07588608BB5E}">
      <dgm:prSet/>
      <dgm:spPr/>
      <dgm:t>
        <a:bodyPr/>
        <a:lstStyle/>
        <a:p>
          <a:r>
            <a:rPr lang="en-US" b="0" i="0">
              <a:latin typeface="Calibri"/>
              <a:ea typeface="Calibri"/>
              <a:cs typeface="Calibri"/>
            </a:rPr>
            <a:t>Introduction</a:t>
          </a:r>
          <a:endParaRPr lang="en-US">
            <a:latin typeface="Calibri"/>
            <a:ea typeface="Calibri"/>
            <a:cs typeface="Calibri"/>
          </a:endParaRPr>
        </a:p>
      </dgm:t>
    </dgm:pt>
    <dgm:pt modelId="{47179FCF-CD38-4CE2-8CB0-F2FB341616DE}" type="parTrans" cxnId="{BE3675FA-7EF5-4E07-A67B-124EA5822588}">
      <dgm:prSet/>
      <dgm:spPr/>
      <dgm:t>
        <a:bodyPr/>
        <a:lstStyle/>
        <a:p>
          <a:endParaRPr lang="en-US"/>
        </a:p>
      </dgm:t>
    </dgm:pt>
    <dgm:pt modelId="{2E05EF81-5D54-4D29-94CF-FCD1C563D56C}" type="sibTrans" cxnId="{BE3675FA-7EF5-4E07-A67B-124EA5822588}">
      <dgm:prSet/>
      <dgm:spPr/>
      <dgm:t>
        <a:bodyPr/>
        <a:lstStyle/>
        <a:p>
          <a:endParaRPr lang="en-US"/>
        </a:p>
      </dgm:t>
    </dgm:pt>
    <dgm:pt modelId="{660FF464-D2FD-41B0-8485-4BDB46014B47}">
      <dgm:prSet phldr="0"/>
      <dgm:spPr/>
      <dgm:t>
        <a:bodyPr/>
        <a:lstStyle/>
        <a:p>
          <a:pPr rtl="0"/>
          <a:r>
            <a:rPr lang="en-US" b="0" i="0">
              <a:latin typeface="Calibri"/>
              <a:ea typeface="Calibri"/>
              <a:cs typeface="Calibri"/>
            </a:rPr>
            <a:t>Literature Review</a:t>
          </a:r>
        </a:p>
      </dgm:t>
    </dgm:pt>
    <dgm:pt modelId="{B02EF10A-98CD-4EA4-BB88-80242272DB8A}" type="parTrans" cxnId="{1B556651-FD09-434C-9CA3-49D5BFA04CE9}">
      <dgm:prSet/>
      <dgm:spPr/>
    </dgm:pt>
    <dgm:pt modelId="{2CD5B1FF-F11A-4149-80C5-3C2E2F5A02C4}" type="sibTrans" cxnId="{1B556651-FD09-434C-9CA3-49D5BFA04CE9}">
      <dgm:prSet/>
      <dgm:spPr/>
    </dgm:pt>
    <dgm:pt modelId="{1F7A6A56-3E61-409F-987C-971958AE12B0}">
      <dgm:prSet phldr="0"/>
      <dgm:spPr/>
      <dgm:t>
        <a:bodyPr/>
        <a:lstStyle/>
        <a:p>
          <a:pPr rtl="0"/>
          <a:r>
            <a:rPr lang="en-US" b="0" i="0">
              <a:latin typeface="Calibri"/>
              <a:ea typeface="Calibri"/>
              <a:cs typeface="Calibri"/>
            </a:rPr>
            <a:t>Research Objective &amp; Questions</a:t>
          </a:r>
        </a:p>
      </dgm:t>
    </dgm:pt>
    <dgm:pt modelId="{FB8AAFDA-CD0D-4CD1-BC78-42D76FFF3C0C}" type="parTrans" cxnId="{4DB36154-B359-4501-8FAB-E8882EC2FF8B}">
      <dgm:prSet/>
      <dgm:spPr/>
    </dgm:pt>
    <dgm:pt modelId="{3C247551-FD58-4AAE-933B-77E2EFC5F823}" type="sibTrans" cxnId="{4DB36154-B359-4501-8FAB-E8882EC2FF8B}">
      <dgm:prSet/>
      <dgm:spPr/>
    </dgm:pt>
    <dgm:pt modelId="{31C698DB-1900-4DA2-AE8D-C4782C6CEA1C}">
      <dgm:prSet phldr="0"/>
      <dgm:spPr/>
      <dgm:t>
        <a:bodyPr/>
        <a:lstStyle/>
        <a:p>
          <a:r>
            <a:rPr lang="en-US" b="0" i="0">
              <a:latin typeface="Calibri"/>
              <a:ea typeface="Calibri"/>
              <a:cs typeface="Calibri"/>
            </a:rPr>
            <a:t>Methodology</a:t>
          </a:r>
        </a:p>
      </dgm:t>
    </dgm:pt>
    <dgm:pt modelId="{9E279D00-0FD1-46A7-A4CD-4CF57F155FBB}" type="parTrans" cxnId="{4B37C6BC-69EB-4473-8898-131A7F147A61}">
      <dgm:prSet/>
      <dgm:spPr/>
    </dgm:pt>
    <dgm:pt modelId="{9CDBA014-D1D3-4286-8EC7-A4DCF13916A6}" type="sibTrans" cxnId="{4B37C6BC-69EB-4473-8898-131A7F147A61}">
      <dgm:prSet/>
      <dgm:spPr/>
    </dgm:pt>
    <dgm:pt modelId="{1C884332-F540-4495-BDA8-D21952A01B31}">
      <dgm:prSet phldr="0"/>
      <dgm:spPr/>
      <dgm:t>
        <a:bodyPr/>
        <a:lstStyle/>
        <a:p>
          <a:pPr rtl="0"/>
          <a:r>
            <a:rPr lang="en-US" b="0" i="0">
              <a:latin typeface="Calibri"/>
              <a:ea typeface="Calibri"/>
              <a:cs typeface="Calibri"/>
            </a:rPr>
            <a:t>Qualitative Analysis</a:t>
          </a:r>
        </a:p>
      </dgm:t>
    </dgm:pt>
    <dgm:pt modelId="{0D069158-59AE-4759-BDB6-87F28C58CC84}" type="parTrans" cxnId="{0001F6A7-DEC5-440E-B8A3-0FDBC60ED4B5}">
      <dgm:prSet/>
      <dgm:spPr/>
    </dgm:pt>
    <dgm:pt modelId="{5DE13532-E40B-4CBF-B927-15ED136B7CE6}" type="sibTrans" cxnId="{0001F6A7-DEC5-440E-B8A3-0FDBC60ED4B5}">
      <dgm:prSet/>
      <dgm:spPr/>
    </dgm:pt>
    <dgm:pt modelId="{DD2EC4F1-FD0C-4DF2-B85C-E357A4641002}">
      <dgm:prSet phldr="0"/>
      <dgm:spPr/>
      <dgm:t>
        <a:bodyPr/>
        <a:lstStyle/>
        <a:p>
          <a:pPr rtl="0"/>
          <a:r>
            <a:rPr lang="en-US" b="0" i="0">
              <a:latin typeface="Calibri"/>
              <a:ea typeface="Calibri"/>
              <a:cs typeface="Calibri"/>
            </a:rPr>
            <a:t>Quantitative Analysis Framework</a:t>
          </a:r>
        </a:p>
      </dgm:t>
    </dgm:pt>
    <dgm:pt modelId="{138E8A03-C51A-4BF8-8CEB-B93EEC200F77}" type="parTrans" cxnId="{222A4AA5-39B6-4835-AB33-2780035C2FA7}">
      <dgm:prSet/>
      <dgm:spPr/>
    </dgm:pt>
    <dgm:pt modelId="{061B99BB-8A48-4A3D-9EC7-906F8E430114}" type="sibTrans" cxnId="{222A4AA5-39B6-4835-AB33-2780035C2FA7}">
      <dgm:prSet/>
      <dgm:spPr/>
    </dgm:pt>
    <dgm:pt modelId="{B9847023-3B97-471E-A8E5-8C9D05D1DB97}">
      <dgm:prSet phldr="0"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Conclusion</a:t>
          </a:r>
        </a:p>
      </dgm:t>
    </dgm:pt>
    <dgm:pt modelId="{8E696A42-9053-4496-9C34-9DAD6D16B2E3}" type="parTrans" cxnId="{079FB0E1-0A1C-423B-9359-32426BFF95CF}">
      <dgm:prSet/>
      <dgm:spPr/>
    </dgm:pt>
    <dgm:pt modelId="{76328F51-D836-48FD-B623-4C44FC891BA4}" type="sibTrans" cxnId="{079FB0E1-0A1C-423B-9359-32426BFF95CF}">
      <dgm:prSet/>
      <dgm:spPr/>
    </dgm:pt>
    <dgm:pt modelId="{8A01FFE3-F510-4C39-8877-7282BFD2B17A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Limitations &amp; Future Enchancements</a:t>
          </a:r>
        </a:p>
      </dgm:t>
    </dgm:pt>
    <dgm:pt modelId="{C4CD4DCC-2F19-4946-8807-3DFA4C8AD011}" type="parTrans" cxnId="{D39D3147-E8F0-43C8-A471-D66E198010F1}">
      <dgm:prSet/>
      <dgm:spPr/>
    </dgm:pt>
    <dgm:pt modelId="{83DAA644-1B2E-4D97-89C3-CDB17D701BBB}" type="sibTrans" cxnId="{D39D3147-E8F0-43C8-A471-D66E198010F1}">
      <dgm:prSet/>
      <dgm:spPr/>
    </dgm:pt>
    <dgm:pt modelId="{7C1ADA9C-2027-4DAE-9E91-051C8279E315}">
      <dgm:prSet phldr="0"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References</a:t>
          </a:r>
        </a:p>
      </dgm:t>
    </dgm:pt>
    <dgm:pt modelId="{50E892EF-E553-4427-A5F9-1DA5C5F5225A}" type="parTrans" cxnId="{10813412-4B54-4A40-A3D5-BBE6BB88B9D9}">
      <dgm:prSet/>
      <dgm:spPr/>
    </dgm:pt>
    <dgm:pt modelId="{D0521A17-B8F4-4147-924B-6C6FCF6BFE70}" type="sibTrans" cxnId="{10813412-4B54-4A40-A3D5-BBE6BB88B9D9}">
      <dgm:prSet/>
      <dgm:spPr/>
    </dgm:pt>
    <dgm:pt modelId="{E33FEC1E-FFF1-418E-815C-7579721593CB}">
      <dgm:prSet phldr="0"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Q&amp;A</a:t>
          </a:r>
        </a:p>
      </dgm:t>
    </dgm:pt>
    <dgm:pt modelId="{A611C30D-FE2D-4C13-B18C-99ADFB8F2FFD}" type="parTrans" cxnId="{371D6743-A25F-4A99-84EE-3CB6F63D1E45}">
      <dgm:prSet/>
      <dgm:spPr/>
    </dgm:pt>
    <dgm:pt modelId="{D4DAAE64-6E41-4355-BA73-46CCB440DCE1}" type="sibTrans" cxnId="{371D6743-A25F-4A99-84EE-3CB6F63D1E45}">
      <dgm:prSet/>
      <dgm:spPr/>
    </dgm:pt>
    <dgm:pt modelId="{03019F7B-7DA5-4866-9077-4D3680A869EF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Quantitative Analysis</a:t>
          </a:r>
        </a:p>
      </dgm:t>
    </dgm:pt>
    <dgm:pt modelId="{E8FCADF3-DB42-48B0-9ED3-487989EA2840}" type="parTrans" cxnId="{81D3D8A1-003F-4FF1-9DEA-5D6EF0CBFFB9}">
      <dgm:prSet/>
      <dgm:spPr/>
    </dgm:pt>
    <dgm:pt modelId="{711656D0-0651-4596-966D-0E0F2C2A339F}" type="sibTrans" cxnId="{81D3D8A1-003F-4FF1-9DEA-5D6EF0CBFFB9}">
      <dgm:prSet/>
      <dgm:spPr/>
    </dgm:pt>
    <dgm:pt modelId="{4FA080DB-D300-48E2-A114-6E36143009CF}" type="pres">
      <dgm:prSet presAssocID="{EA2AEFB7-66BA-4D75-A777-AB8F84D9694E}" presName="vert0" presStyleCnt="0">
        <dgm:presLayoutVars>
          <dgm:dir/>
          <dgm:animOne val="branch"/>
          <dgm:animLvl val="lvl"/>
        </dgm:presLayoutVars>
      </dgm:prSet>
      <dgm:spPr/>
    </dgm:pt>
    <dgm:pt modelId="{578DAB9B-B8EC-4583-B026-D522475B9E46}" type="pres">
      <dgm:prSet presAssocID="{C8D62089-6184-4152-B217-07588608BB5E}" presName="thickLine" presStyleLbl="alignNode1" presStyleIdx="0" presStyleCnt="11"/>
      <dgm:spPr/>
    </dgm:pt>
    <dgm:pt modelId="{4830F475-27E2-4F23-A846-09026EBBFABC}" type="pres">
      <dgm:prSet presAssocID="{C8D62089-6184-4152-B217-07588608BB5E}" presName="horz1" presStyleCnt="0"/>
      <dgm:spPr/>
    </dgm:pt>
    <dgm:pt modelId="{61DC2EFF-B207-4C8A-8F75-2A279767E974}" type="pres">
      <dgm:prSet presAssocID="{C8D62089-6184-4152-B217-07588608BB5E}" presName="tx1" presStyleLbl="revTx" presStyleIdx="0" presStyleCnt="11"/>
      <dgm:spPr/>
    </dgm:pt>
    <dgm:pt modelId="{570A416F-DEA3-4467-8736-EBF2C8399D4B}" type="pres">
      <dgm:prSet presAssocID="{C8D62089-6184-4152-B217-07588608BB5E}" presName="vert1" presStyleCnt="0"/>
      <dgm:spPr/>
    </dgm:pt>
    <dgm:pt modelId="{2DD79375-564B-486A-B1BE-4C0B27B0DE6A}" type="pres">
      <dgm:prSet presAssocID="{660FF464-D2FD-41B0-8485-4BDB46014B47}" presName="thickLine" presStyleLbl="alignNode1" presStyleIdx="1" presStyleCnt="11"/>
      <dgm:spPr/>
    </dgm:pt>
    <dgm:pt modelId="{5A87CE15-7BA5-4B97-A9CE-DF5EB1D2D073}" type="pres">
      <dgm:prSet presAssocID="{660FF464-D2FD-41B0-8485-4BDB46014B47}" presName="horz1" presStyleCnt="0"/>
      <dgm:spPr/>
    </dgm:pt>
    <dgm:pt modelId="{592E7E46-1BF6-4EB6-BF6B-7E01DE44696A}" type="pres">
      <dgm:prSet presAssocID="{660FF464-D2FD-41B0-8485-4BDB46014B47}" presName="tx1" presStyleLbl="revTx" presStyleIdx="1" presStyleCnt="11"/>
      <dgm:spPr/>
    </dgm:pt>
    <dgm:pt modelId="{BF657974-0E91-45BF-AE25-497597A0EAD4}" type="pres">
      <dgm:prSet presAssocID="{660FF464-D2FD-41B0-8485-4BDB46014B47}" presName="vert1" presStyleCnt="0"/>
      <dgm:spPr/>
    </dgm:pt>
    <dgm:pt modelId="{22C440B0-F732-46AE-9DDD-98AD0F541C7C}" type="pres">
      <dgm:prSet presAssocID="{1F7A6A56-3E61-409F-987C-971958AE12B0}" presName="thickLine" presStyleLbl="alignNode1" presStyleIdx="2" presStyleCnt="11"/>
      <dgm:spPr/>
    </dgm:pt>
    <dgm:pt modelId="{07E4FFC8-0BF9-4CD5-8A5F-65533031FBF9}" type="pres">
      <dgm:prSet presAssocID="{1F7A6A56-3E61-409F-987C-971958AE12B0}" presName="horz1" presStyleCnt="0"/>
      <dgm:spPr/>
    </dgm:pt>
    <dgm:pt modelId="{D826F2DA-09A6-4909-843D-815801E51EE6}" type="pres">
      <dgm:prSet presAssocID="{1F7A6A56-3E61-409F-987C-971958AE12B0}" presName="tx1" presStyleLbl="revTx" presStyleIdx="2" presStyleCnt="11"/>
      <dgm:spPr/>
    </dgm:pt>
    <dgm:pt modelId="{7064E1BB-C2EC-484C-B79A-8BBF36F999F4}" type="pres">
      <dgm:prSet presAssocID="{1F7A6A56-3E61-409F-987C-971958AE12B0}" presName="vert1" presStyleCnt="0"/>
      <dgm:spPr/>
    </dgm:pt>
    <dgm:pt modelId="{500C9A18-8716-414E-B5EE-D1E3CDC07730}" type="pres">
      <dgm:prSet presAssocID="{31C698DB-1900-4DA2-AE8D-C4782C6CEA1C}" presName="thickLine" presStyleLbl="alignNode1" presStyleIdx="3" presStyleCnt="11"/>
      <dgm:spPr/>
    </dgm:pt>
    <dgm:pt modelId="{C0B12BFA-2E61-4BEA-BEC9-A5A023817A63}" type="pres">
      <dgm:prSet presAssocID="{31C698DB-1900-4DA2-AE8D-C4782C6CEA1C}" presName="horz1" presStyleCnt="0"/>
      <dgm:spPr/>
    </dgm:pt>
    <dgm:pt modelId="{8198D23B-CE40-4576-B2D1-1E08362AA8A8}" type="pres">
      <dgm:prSet presAssocID="{31C698DB-1900-4DA2-AE8D-C4782C6CEA1C}" presName="tx1" presStyleLbl="revTx" presStyleIdx="3" presStyleCnt="11"/>
      <dgm:spPr/>
    </dgm:pt>
    <dgm:pt modelId="{BA037E48-87F9-4450-A6AD-F2F8AF8CC3F2}" type="pres">
      <dgm:prSet presAssocID="{31C698DB-1900-4DA2-AE8D-C4782C6CEA1C}" presName="vert1" presStyleCnt="0"/>
      <dgm:spPr/>
    </dgm:pt>
    <dgm:pt modelId="{65E4F561-B83D-4045-9D8F-3C0EA7356555}" type="pres">
      <dgm:prSet presAssocID="{1C884332-F540-4495-BDA8-D21952A01B31}" presName="thickLine" presStyleLbl="alignNode1" presStyleIdx="4" presStyleCnt="11"/>
      <dgm:spPr/>
    </dgm:pt>
    <dgm:pt modelId="{070A5661-3BD4-43BC-B0D8-AF1D6902FAE0}" type="pres">
      <dgm:prSet presAssocID="{1C884332-F540-4495-BDA8-D21952A01B31}" presName="horz1" presStyleCnt="0"/>
      <dgm:spPr/>
    </dgm:pt>
    <dgm:pt modelId="{430FD40F-E73D-45AB-A578-D57C15C36524}" type="pres">
      <dgm:prSet presAssocID="{1C884332-F540-4495-BDA8-D21952A01B31}" presName="tx1" presStyleLbl="revTx" presStyleIdx="4" presStyleCnt="11"/>
      <dgm:spPr/>
    </dgm:pt>
    <dgm:pt modelId="{02A8EF37-3936-4724-854F-E7F79CE3EB99}" type="pres">
      <dgm:prSet presAssocID="{1C884332-F540-4495-BDA8-D21952A01B31}" presName="vert1" presStyleCnt="0"/>
      <dgm:spPr/>
    </dgm:pt>
    <dgm:pt modelId="{F4481884-9B1B-4096-BF49-42C5261447D7}" type="pres">
      <dgm:prSet presAssocID="{DD2EC4F1-FD0C-4DF2-B85C-E357A4641002}" presName="thickLine" presStyleLbl="alignNode1" presStyleIdx="5" presStyleCnt="11"/>
      <dgm:spPr/>
    </dgm:pt>
    <dgm:pt modelId="{039EBBCF-7701-4477-8B78-6ACA3B21CC34}" type="pres">
      <dgm:prSet presAssocID="{DD2EC4F1-FD0C-4DF2-B85C-E357A4641002}" presName="horz1" presStyleCnt="0"/>
      <dgm:spPr/>
    </dgm:pt>
    <dgm:pt modelId="{88031CCC-8D68-4537-AD44-C887A9D0F8CA}" type="pres">
      <dgm:prSet presAssocID="{DD2EC4F1-FD0C-4DF2-B85C-E357A4641002}" presName="tx1" presStyleLbl="revTx" presStyleIdx="5" presStyleCnt="11"/>
      <dgm:spPr/>
    </dgm:pt>
    <dgm:pt modelId="{7EB1BEA5-5C64-4FE0-A7B1-FADB01587E4B}" type="pres">
      <dgm:prSet presAssocID="{DD2EC4F1-FD0C-4DF2-B85C-E357A4641002}" presName="vert1" presStyleCnt="0"/>
      <dgm:spPr/>
    </dgm:pt>
    <dgm:pt modelId="{3831675C-F77F-41BE-A13E-48A14240A4AA}" type="pres">
      <dgm:prSet presAssocID="{03019F7B-7DA5-4866-9077-4D3680A869EF}" presName="thickLine" presStyleLbl="alignNode1" presStyleIdx="6" presStyleCnt="11"/>
      <dgm:spPr/>
    </dgm:pt>
    <dgm:pt modelId="{9A8177DE-C5F6-4DED-B245-083D67DE3F33}" type="pres">
      <dgm:prSet presAssocID="{03019F7B-7DA5-4866-9077-4D3680A869EF}" presName="horz1" presStyleCnt="0"/>
      <dgm:spPr/>
    </dgm:pt>
    <dgm:pt modelId="{265BDF03-488D-48D2-B2FB-30D7F8A40EE2}" type="pres">
      <dgm:prSet presAssocID="{03019F7B-7DA5-4866-9077-4D3680A869EF}" presName="tx1" presStyleLbl="revTx" presStyleIdx="6" presStyleCnt="11"/>
      <dgm:spPr/>
    </dgm:pt>
    <dgm:pt modelId="{826AAC04-877F-4DF5-82F5-34652FE6C493}" type="pres">
      <dgm:prSet presAssocID="{03019F7B-7DA5-4866-9077-4D3680A869EF}" presName="vert1" presStyleCnt="0"/>
      <dgm:spPr/>
    </dgm:pt>
    <dgm:pt modelId="{668419C8-F08B-42A0-A806-04882F790164}" type="pres">
      <dgm:prSet presAssocID="{B9847023-3B97-471E-A8E5-8C9D05D1DB97}" presName="thickLine" presStyleLbl="alignNode1" presStyleIdx="7" presStyleCnt="11"/>
      <dgm:spPr/>
    </dgm:pt>
    <dgm:pt modelId="{D8B84718-98D9-49BD-97F1-B3659393B311}" type="pres">
      <dgm:prSet presAssocID="{B9847023-3B97-471E-A8E5-8C9D05D1DB97}" presName="horz1" presStyleCnt="0"/>
      <dgm:spPr/>
    </dgm:pt>
    <dgm:pt modelId="{9FB2A6DA-A266-4722-BC05-E82D8BD50BAA}" type="pres">
      <dgm:prSet presAssocID="{B9847023-3B97-471E-A8E5-8C9D05D1DB97}" presName="tx1" presStyleLbl="revTx" presStyleIdx="7" presStyleCnt="11"/>
      <dgm:spPr/>
    </dgm:pt>
    <dgm:pt modelId="{2499C925-243C-4304-88D5-E415557E145A}" type="pres">
      <dgm:prSet presAssocID="{B9847023-3B97-471E-A8E5-8C9D05D1DB97}" presName="vert1" presStyleCnt="0"/>
      <dgm:spPr/>
    </dgm:pt>
    <dgm:pt modelId="{1F0AAA7E-5D03-4FFB-8570-6DDCA8D894BB}" type="pres">
      <dgm:prSet presAssocID="{8A01FFE3-F510-4C39-8877-7282BFD2B17A}" presName="thickLine" presStyleLbl="alignNode1" presStyleIdx="8" presStyleCnt="11"/>
      <dgm:spPr/>
    </dgm:pt>
    <dgm:pt modelId="{A83C622E-5C20-4D80-8F8E-A4AE66EB5A59}" type="pres">
      <dgm:prSet presAssocID="{8A01FFE3-F510-4C39-8877-7282BFD2B17A}" presName="horz1" presStyleCnt="0"/>
      <dgm:spPr/>
    </dgm:pt>
    <dgm:pt modelId="{362A7C8D-3EDF-4D08-AF1E-72AEF371AC36}" type="pres">
      <dgm:prSet presAssocID="{8A01FFE3-F510-4C39-8877-7282BFD2B17A}" presName="tx1" presStyleLbl="revTx" presStyleIdx="8" presStyleCnt="11"/>
      <dgm:spPr/>
    </dgm:pt>
    <dgm:pt modelId="{8C2E5A22-393F-4340-B88F-59C6C570E8AC}" type="pres">
      <dgm:prSet presAssocID="{8A01FFE3-F510-4C39-8877-7282BFD2B17A}" presName="vert1" presStyleCnt="0"/>
      <dgm:spPr/>
    </dgm:pt>
    <dgm:pt modelId="{42A2388E-4710-4778-AF84-679F02F16B8D}" type="pres">
      <dgm:prSet presAssocID="{7C1ADA9C-2027-4DAE-9E91-051C8279E315}" presName="thickLine" presStyleLbl="alignNode1" presStyleIdx="9" presStyleCnt="11"/>
      <dgm:spPr/>
    </dgm:pt>
    <dgm:pt modelId="{4899DDC4-9221-48AE-BF59-3286936E750B}" type="pres">
      <dgm:prSet presAssocID="{7C1ADA9C-2027-4DAE-9E91-051C8279E315}" presName="horz1" presStyleCnt="0"/>
      <dgm:spPr/>
    </dgm:pt>
    <dgm:pt modelId="{B2F35BB1-4561-49E3-A44D-CE6F9A3A114E}" type="pres">
      <dgm:prSet presAssocID="{7C1ADA9C-2027-4DAE-9E91-051C8279E315}" presName="tx1" presStyleLbl="revTx" presStyleIdx="9" presStyleCnt="11"/>
      <dgm:spPr/>
    </dgm:pt>
    <dgm:pt modelId="{1544F780-DE52-43EF-9B13-1E37A2A73C4B}" type="pres">
      <dgm:prSet presAssocID="{7C1ADA9C-2027-4DAE-9E91-051C8279E315}" presName="vert1" presStyleCnt="0"/>
      <dgm:spPr/>
    </dgm:pt>
    <dgm:pt modelId="{03880878-F90B-43A6-9FF3-0391DF8C1C30}" type="pres">
      <dgm:prSet presAssocID="{E33FEC1E-FFF1-418E-815C-7579721593CB}" presName="thickLine" presStyleLbl="alignNode1" presStyleIdx="10" presStyleCnt="11"/>
      <dgm:spPr/>
    </dgm:pt>
    <dgm:pt modelId="{BD77707A-E506-45B4-AA73-5133720ABB1F}" type="pres">
      <dgm:prSet presAssocID="{E33FEC1E-FFF1-418E-815C-7579721593CB}" presName="horz1" presStyleCnt="0"/>
      <dgm:spPr/>
    </dgm:pt>
    <dgm:pt modelId="{082927B2-6FDC-4C8C-B4E0-4A58C0A3ECF5}" type="pres">
      <dgm:prSet presAssocID="{E33FEC1E-FFF1-418E-815C-7579721593CB}" presName="tx1" presStyleLbl="revTx" presStyleIdx="10" presStyleCnt="11"/>
      <dgm:spPr/>
    </dgm:pt>
    <dgm:pt modelId="{7F6A7B78-A703-4AB1-9949-AFCB3E43CEB7}" type="pres">
      <dgm:prSet presAssocID="{E33FEC1E-FFF1-418E-815C-7579721593CB}" presName="vert1" presStyleCnt="0"/>
      <dgm:spPr/>
    </dgm:pt>
  </dgm:ptLst>
  <dgm:cxnLst>
    <dgm:cxn modelId="{10813412-4B54-4A40-A3D5-BBE6BB88B9D9}" srcId="{EA2AEFB7-66BA-4D75-A777-AB8F84D9694E}" destId="{7C1ADA9C-2027-4DAE-9E91-051C8279E315}" srcOrd="9" destOrd="0" parTransId="{50E892EF-E553-4427-A5F9-1DA5C5F5225A}" sibTransId="{D0521A17-B8F4-4147-924B-6C6FCF6BFE70}"/>
    <dgm:cxn modelId="{0D952735-AD63-4317-8B9E-32E1A3F29F1C}" type="presOf" srcId="{660FF464-D2FD-41B0-8485-4BDB46014B47}" destId="{592E7E46-1BF6-4EB6-BF6B-7E01DE44696A}" srcOrd="0" destOrd="0" presId="urn:microsoft.com/office/officeart/2008/layout/LinedList"/>
    <dgm:cxn modelId="{BDDD683A-EF33-4EF3-A93F-5E75A8524660}" type="presOf" srcId="{7C1ADA9C-2027-4DAE-9E91-051C8279E315}" destId="{B2F35BB1-4561-49E3-A44D-CE6F9A3A114E}" srcOrd="0" destOrd="0" presId="urn:microsoft.com/office/officeart/2008/layout/LinedList"/>
    <dgm:cxn modelId="{371D6743-A25F-4A99-84EE-3CB6F63D1E45}" srcId="{EA2AEFB7-66BA-4D75-A777-AB8F84D9694E}" destId="{E33FEC1E-FFF1-418E-815C-7579721593CB}" srcOrd="10" destOrd="0" parTransId="{A611C30D-FE2D-4C13-B18C-99ADFB8F2FFD}" sibTransId="{D4DAAE64-6E41-4355-BA73-46CCB440DCE1}"/>
    <dgm:cxn modelId="{D39D3147-E8F0-43C8-A471-D66E198010F1}" srcId="{EA2AEFB7-66BA-4D75-A777-AB8F84D9694E}" destId="{8A01FFE3-F510-4C39-8877-7282BFD2B17A}" srcOrd="8" destOrd="0" parTransId="{C4CD4DCC-2F19-4946-8807-3DFA4C8AD011}" sibTransId="{83DAA644-1B2E-4D97-89C3-CDB17D701BBB}"/>
    <dgm:cxn modelId="{5E183950-B2EB-498D-AE96-11BEC449B92D}" type="presOf" srcId="{1C884332-F540-4495-BDA8-D21952A01B31}" destId="{430FD40F-E73D-45AB-A578-D57C15C36524}" srcOrd="0" destOrd="0" presId="urn:microsoft.com/office/officeart/2008/layout/LinedList"/>
    <dgm:cxn modelId="{1B556651-FD09-434C-9CA3-49D5BFA04CE9}" srcId="{EA2AEFB7-66BA-4D75-A777-AB8F84D9694E}" destId="{660FF464-D2FD-41B0-8485-4BDB46014B47}" srcOrd="1" destOrd="0" parTransId="{B02EF10A-98CD-4EA4-BB88-80242272DB8A}" sibTransId="{2CD5B1FF-F11A-4149-80C5-3C2E2F5A02C4}"/>
    <dgm:cxn modelId="{4DB36154-B359-4501-8FAB-E8882EC2FF8B}" srcId="{EA2AEFB7-66BA-4D75-A777-AB8F84D9694E}" destId="{1F7A6A56-3E61-409F-987C-971958AE12B0}" srcOrd="2" destOrd="0" parTransId="{FB8AAFDA-CD0D-4CD1-BC78-42D76FFF3C0C}" sibTransId="{3C247551-FD58-4AAE-933B-77E2EFC5F823}"/>
    <dgm:cxn modelId="{4F538576-9AD0-4E0A-9943-8C1753C8A645}" type="presOf" srcId="{C8D62089-6184-4152-B217-07588608BB5E}" destId="{61DC2EFF-B207-4C8A-8F75-2A279767E974}" srcOrd="0" destOrd="0" presId="urn:microsoft.com/office/officeart/2008/layout/LinedList"/>
    <dgm:cxn modelId="{7B904F57-D47B-4D94-A6B0-F77519B56E66}" type="presOf" srcId="{03019F7B-7DA5-4866-9077-4D3680A869EF}" destId="{265BDF03-488D-48D2-B2FB-30D7F8A40EE2}" srcOrd="0" destOrd="0" presId="urn:microsoft.com/office/officeart/2008/layout/LinedList"/>
    <dgm:cxn modelId="{3E172B7C-9133-4D70-8F32-837981369C74}" type="presOf" srcId="{DD2EC4F1-FD0C-4DF2-B85C-E357A4641002}" destId="{88031CCC-8D68-4537-AD44-C887A9D0F8CA}" srcOrd="0" destOrd="0" presId="urn:microsoft.com/office/officeart/2008/layout/LinedList"/>
    <dgm:cxn modelId="{DDD05B81-2D0C-45AC-BBF0-F90098F88AE1}" type="presOf" srcId="{EA2AEFB7-66BA-4D75-A777-AB8F84D9694E}" destId="{4FA080DB-D300-48E2-A114-6E36143009CF}" srcOrd="0" destOrd="0" presId="urn:microsoft.com/office/officeart/2008/layout/LinedList"/>
    <dgm:cxn modelId="{4F1E6696-6F32-4EBA-B9C2-1BA0F5CD783A}" type="presOf" srcId="{E33FEC1E-FFF1-418E-815C-7579721593CB}" destId="{082927B2-6FDC-4C8C-B4E0-4A58C0A3ECF5}" srcOrd="0" destOrd="0" presId="urn:microsoft.com/office/officeart/2008/layout/LinedList"/>
    <dgm:cxn modelId="{81D3D8A1-003F-4FF1-9DEA-5D6EF0CBFFB9}" srcId="{EA2AEFB7-66BA-4D75-A777-AB8F84D9694E}" destId="{03019F7B-7DA5-4866-9077-4D3680A869EF}" srcOrd="6" destOrd="0" parTransId="{E8FCADF3-DB42-48B0-9ED3-487989EA2840}" sibTransId="{711656D0-0651-4596-966D-0E0F2C2A339F}"/>
    <dgm:cxn modelId="{7DF15FA3-12F3-4661-8684-61A64CF6ED94}" type="presOf" srcId="{1F7A6A56-3E61-409F-987C-971958AE12B0}" destId="{D826F2DA-09A6-4909-843D-815801E51EE6}" srcOrd="0" destOrd="0" presId="urn:microsoft.com/office/officeart/2008/layout/LinedList"/>
    <dgm:cxn modelId="{222A4AA5-39B6-4835-AB33-2780035C2FA7}" srcId="{EA2AEFB7-66BA-4D75-A777-AB8F84D9694E}" destId="{DD2EC4F1-FD0C-4DF2-B85C-E357A4641002}" srcOrd="5" destOrd="0" parTransId="{138E8A03-C51A-4BF8-8CEB-B93EEC200F77}" sibTransId="{061B99BB-8A48-4A3D-9EC7-906F8E430114}"/>
    <dgm:cxn modelId="{0001F6A7-DEC5-440E-B8A3-0FDBC60ED4B5}" srcId="{EA2AEFB7-66BA-4D75-A777-AB8F84D9694E}" destId="{1C884332-F540-4495-BDA8-D21952A01B31}" srcOrd="4" destOrd="0" parTransId="{0D069158-59AE-4759-BDB6-87F28C58CC84}" sibTransId="{5DE13532-E40B-4CBF-B927-15ED136B7CE6}"/>
    <dgm:cxn modelId="{623795B8-6C54-42D6-8BC6-7D199E63E4EE}" type="presOf" srcId="{8A01FFE3-F510-4C39-8877-7282BFD2B17A}" destId="{362A7C8D-3EDF-4D08-AF1E-72AEF371AC36}" srcOrd="0" destOrd="0" presId="urn:microsoft.com/office/officeart/2008/layout/LinedList"/>
    <dgm:cxn modelId="{4B37C6BC-69EB-4473-8898-131A7F147A61}" srcId="{EA2AEFB7-66BA-4D75-A777-AB8F84D9694E}" destId="{31C698DB-1900-4DA2-AE8D-C4782C6CEA1C}" srcOrd="3" destOrd="0" parTransId="{9E279D00-0FD1-46A7-A4CD-4CF57F155FBB}" sibTransId="{9CDBA014-D1D3-4286-8EC7-A4DCF13916A6}"/>
    <dgm:cxn modelId="{079FB0E1-0A1C-423B-9359-32426BFF95CF}" srcId="{EA2AEFB7-66BA-4D75-A777-AB8F84D9694E}" destId="{B9847023-3B97-471E-A8E5-8C9D05D1DB97}" srcOrd="7" destOrd="0" parTransId="{8E696A42-9053-4496-9C34-9DAD6D16B2E3}" sibTransId="{76328F51-D836-48FD-B623-4C44FC891BA4}"/>
    <dgm:cxn modelId="{BE3675FA-7EF5-4E07-A67B-124EA5822588}" srcId="{EA2AEFB7-66BA-4D75-A777-AB8F84D9694E}" destId="{C8D62089-6184-4152-B217-07588608BB5E}" srcOrd="0" destOrd="0" parTransId="{47179FCF-CD38-4CE2-8CB0-F2FB341616DE}" sibTransId="{2E05EF81-5D54-4D29-94CF-FCD1C563D56C}"/>
    <dgm:cxn modelId="{6AA4D5FC-E6C3-4F93-B31E-D8AED51CCEAC}" type="presOf" srcId="{B9847023-3B97-471E-A8E5-8C9D05D1DB97}" destId="{9FB2A6DA-A266-4722-BC05-E82D8BD50BAA}" srcOrd="0" destOrd="0" presId="urn:microsoft.com/office/officeart/2008/layout/LinedList"/>
    <dgm:cxn modelId="{4A1094FF-F77C-412A-B43E-59FDD4400413}" type="presOf" srcId="{31C698DB-1900-4DA2-AE8D-C4782C6CEA1C}" destId="{8198D23B-CE40-4576-B2D1-1E08362AA8A8}" srcOrd="0" destOrd="0" presId="urn:microsoft.com/office/officeart/2008/layout/LinedList"/>
    <dgm:cxn modelId="{BAC94684-4D89-4A0E-B037-4EE56EA73C1F}" type="presParOf" srcId="{4FA080DB-D300-48E2-A114-6E36143009CF}" destId="{578DAB9B-B8EC-4583-B026-D522475B9E46}" srcOrd="0" destOrd="0" presId="urn:microsoft.com/office/officeart/2008/layout/LinedList"/>
    <dgm:cxn modelId="{12872C9E-E7BB-4015-AE0A-097E2B00175A}" type="presParOf" srcId="{4FA080DB-D300-48E2-A114-6E36143009CF}" destId="{4830F475-27E2-4F23-A846-09026EBBFABC}" srcOrd="1" destOrd="0" presId="urn:microsoft.com/office/officeart/2008/layout/LinedList"/>
    <dgm:cxn modelId="{C268362E-EE39-4324-8641-2209D081AF57}" type="presParOf" srcId="{4830F475-27E2-4F23-A846-09026EBBFABC}" destId="{61DC2EFF-B207-4C8A-8F75-2A279767E974}" srcOrd="0" destOrd="0" presId="urn:microsoft.com/office/officeart/2008/layout/LinedList"/>
    <dgm:cxn modelId="{42D9A179-756D-4263-BB19-EB4EECF550F3}" type="presParOf" srcId="{4830F475-27E2-4F23-A846-09026EBBFABC}" destId="{570A416F-DEA3-4467-8736-EBF2C8399D4B}" srcOrd="1" destOrd="0" presId="urn:microsoft.com/office/officeart/2008/layout/LinedList"/>
    <dgm:cxn modelId="{0FEC3837-93B8-4FAA-B7A4-88ABA0C8AA4C}" type="presParOf" srcId="{4FA080DB-D300-48E2-A114-6E36143009CF}" destId="{2DD79375-564B-486A-B1BE-4C0B27B0DE6A}" srcOrd="2" destOrd="0" presId="urn:microsoft.com/office/officeart/2008/layout/LinedList"/>
    <dgm:cxn modelId="{03A919B9-C752-4E43-BD87-7B4DA6649626}" type="presParOf" srcId="{4FA080DB-D300-48E2-A114-6E36143009CF}" destId="{5A87CE15-7BA5-4B97-A9CE-DF5EB1D2D073}" srcOrd="3" destOrd="0" presId="urn:microsoft.com/office/officeart/2008/layout/LinedList"/>
    <dgm:cxn modelId="{43C95178-0643-4A71-AD50-B4BC61D96072}" type="presParOf" srcId="{5A87CE15-7BA5-4B97-A9CE-DF5EB1D2D073}" destId="{592E7E46-1BF6-4EB6-BF6B-7E01DE44696A}" srcOrd="0" destOrd="0" presId="urn:microsoft.com/office/officeart/2008/layout/LinedList"/>
    <dgm:cxn modelId="{5B59A905-6E57-45AF-ACD3-374B449453D7}" type="presParOf" srcId="{5A87CE15-7BA5-4B97-A9CE-DF5EB1D2D073}" destId="{BF657974-0E91-45BF-AE25-497597A0EAD4}" srcOrd="1" destOrd="0" presId="urn:microsoft.com/office/officeart/2008/layout/LinedList"/>
    <dgm:cxn modelId="{B076657A-7BA3-4AFE-A4CB-849B074F9AB3}" type="presParOf" srcId="{4FA080DB-D300-48E2-A114-6E36143009CF}" destId="{22C440B0-F732-46AE-9DDD-98AD0F541C7C}" srcOrd="4" destOrd="0" presId="urn:microsoft.com/office/officeart/2008/layout/LinedList"/>
    <dgm:cxn modelId="{BD704739-EBE1-4EB0-9175-4B96D0A3E22C}" type="presParOf" srcId="{4FA080DB-D300-48E2-A114-6E36143009CF}" destId="{07E4FFC8-0BF9-4CD5-8A5F-65533031FBF9}" srcOrd="5" destOrd="0" presId="urn:microsoft.com/office/officeart/2008/layout/LinedList"/>
    <dgm:cxn modelId="{0BD0A145-C3E9-4B51-8427-52ABCAD93ABA}" type="presParOf" srcId="{07E4FFC8-0BF9-4CD5-8A5F-65533031FBF9}" destId="{D826F2DA-09A6-4909-843D-815801E51EE6}" srcOrd="0" destOrd="0" presId="urn:microsoft.com/office/officeart/2008/layout/LinedList"/>
    <dgm:cxn modelId="{1C2D2BDA-5CDA-4EDA-81DA-2178DBF33B4A}" type="presParOf" srcId="{07E4FFC8-0BF9-4CD5-8A5F-65533031FBF9}" destId="{7064E1BB-C2EC-484C-B79A-8BBF36F999F4}" srcOrd="1" destOrd="0" presId="urn:microsoft.com/office/officeart/2008/layout/LinedList"/>
    <dgm:cxn modelId="{2E444552-152F-430C-B124-76448BFEA27D}" type="presParOf" srcId="{4FA080DB-D300-48E2-A114-6E36143009CF}" destId="{500C9A18-8716-414E-B5EE-D1E3CDC07730}" srcOrd="6" destOrd="0" presId="urn:microsoft.com/office/officeart/2008/layout/LinedList"/>
    <dgm:cxn modelId="{A52D6D51-14BB-48BF-A19F-BF028C15B8DD}" type="presParOf" srcId="{4FA080DB-D300-48E2-A114-6E36143009CF}" destId="{C0B12BFA-2E61-4BEA-BEC9-A5A023817A63}" srcOrd="7" destOrd="0" presId="urn:microsoft.com/office/officeart/2008/layout/LinedList"/>
    <dgm:cxn modelId="{98F4534B-5FCD-4281-BAF3-FD4C63673401}" type="presParOf" srcId="{C0B12BFA-2E61-4BEA-BEC9-A5A023817A63}" destId="{8198D23B-CE40-4576-B2D1-1E08362AA8A8}" srcOrd="0" destOrd="0" presId="urn:microsoft.com/office/officeart/2008/layout/LinedList"/>
    <dgm:cxn modelId="{1C985627-DB04-4F32-861E-601A6AAE53FB}" type="presParOf" srcId="{C0B12BFA-2E61-4BEA-BEC9-A5A023817A63}" destId="{BA037E48-87F9-4450-A6AD-F2F8AF8CC3F2}" srcOrd="1" destOrd="0" presId="urn:microsoft.com/office/officeart/2008/layout/LinedList"/>
    <dgm:cxn modelId="{F0920C6F-E6DA-4BF8-92BF-E94DBB61248E}" type="presParOf" srcId="{4FA080DB-D300-48E2-A114-6E36143009CF}" destId="{65E4F561-B83D-4045-9D8F-3C0EA7356555}" srcOrd="8" destOrd="0" presId="urn:microsoft.com/office/officeart/2008/layout/LinedList"/>
    <dgm:cxn modelId="{D5BDAAB7-5EAC-4333-9F59-469166B63462}" type="presParOf" srcId="{4FA080DB-D300-48E2-A114-6E36143009CF}" destId="{070A5661-3BD4-43BC-B0D8-AF1D6902FAE0}" srcOrd="9" destOrd="0" presId="urn:microsoft.com/office/officeart/2008/layout/LinedList"/>
    <dgm:cxn modelId="{4AEFF71B-99C3-435D-AF07-E9A42A69B62B}" type="presParOf" srcId="{070A5661-3BD4-43BC-B0D8-AF1D6902FAE0}" destId="{430FD40F-E73D-45AB-A578-D57C15C36524}" srcOrd="0" destOrd="0" presId="urn:microsoft.com/office/officeart/2008/layout/LinedList"/>
    <dgm:cxn modelId="{167E3BB9-41D5-4B14-8BAA-21D207A4EB3B}" type="presParOf" srcId="{070A5661-3BD4-43BC-B0D8-AF1D6902FAE0}" destId="{02A8EF37-3936-4724-854F-E7F79CE3EB99}" srcOrd="1" destOrd="0" presId="urn:microsoft.com/office/officeart/2008/layout/LinedList"/>
    <dgm:cxn modelId="{291693B7-9E99-4B9D-AD5E-6F93B00ACCA4}" type="presParOf" srcId="{4FA080DB-D300-48E2-A114-6E36143009CF}" destId="{F4481884-9B1B-4096-BF49-42C5261447D7}" srcOrd="10" destOrd="0" presId="urn:microsoft.com/office/officeart/2008/layout/LinedList"/>
    <dgm:cxn modelId="{CDB79D6E-58BA-4C77-B83D-1D8F47D6F515}" type="presParOf" srcId="{4FA080DB-D300-48E2-A114-6E36143009CF}" destId="{039EBBCF-7701-4477-8B78-6ACA3B21CC34}" srcOrd="11" destOrd="0" presId="urn:microsoft.com/office/officeart/2008/layout/LinedList"/>
    <dgm:cxn modelId="{E7ABD351-4A45-46D9-A3D7-25EEB6F3F5CB}" type="presParOf" srcId="{039EBBCF-7701-4477-8B78-6ACA3B21CC34}" destId="{88031CCC-8D68-4537-AD44-C887A9D0F8CA}" srcOrd="0" destOrd="0" presId="urn:microsoft.com/office/officeart/2008/layout/LinedList"/>
    <dgm:cxn modelId="{BF53FC60-D93D-45B3-865E-4A4C34C33795}" type="presParOf" srcId="{039EBBCF-7701-4477-8B78-6ACA3B21CC34}" destId="{7EB1BEA5-5C64-4FE0-A7B1-FADB01587E4B}" srcOrd="1" destOrd="0" presId="urn:microsoft.com/office/officeart/2008/layout/LinedList"/>
    <dgm:cxn modelId="{CC0C1074-F0B9-4EAC-BAEA-4C56CF93903F}" type="presParOf" srcId="{4FA080DB-D300-48E2-A114-6E36143009CF}" destId="{3831675C-F77F-41BE-A13E-48A14240A4AA}" srcOrd="12" destOrd="0" presId="urn:microsoft.com/office/officeart/2008/layout/LinedList"/>
    <dgm:cxn modelId="{12C2A819-0A2C-4821-855C-EFF14FC8FAF2}" type="presParOf" srcId="{4FA080DB-D300-48E2-A114-6E36143009CF}" destId="{9A8177DE-C5F6-4DED-B245-083D67DE3F33}" srcOrd="13" destOrd="0" presId="urn:microsoft.com/office/officeart/2008/layout/LinedList"/>
    <dgm:cxn modelId="{B99D4D06-BCF6-4A19-B2D2-051CA76DE86F}" type="presParOf" srcId="{9A8177DE-C5F6-4DED-B245-083D67DE3F33}" destId="{265BDF03-488D-48D2-B2FB-30D7F8A40EE2}" srcOrd="0" destOrd="0" presId="urn:microsoft.com/office/officeart/2008/layout/LinedList"/>
    <dgm:cxn modelId="{5A8D4F6A-E6FE-439E-8496-D4F75C67AE64}" type="presParOf" srcId="{9A8177DE-C5F6-4DED-B245-083D67DE3F33}" destId="{826AAC04-877F-4DF5-82F5-34652FE6C493}" srcOrd="1" destOrd="0" presId="urn:microsoft.com/office/officeart/2008/layout/LinedList"/>
    <dgm:cxn modelId="{699DAE12-D0A4-425B-A18C-FE583917D275}" type="presParOf" srcId="{4FA080DB-D300-48E2-A114-6E36143009CF}" destId="{668419C8-F08B-42A0-A806-04882F790164}" srcOrd="14" destOrd="0" presId="urn:microsoft.com/office/officeart/2008/layout/LinedList"/>
    <dgm:cxn modelId="{5455615B-782D-4B49-B744-D5666EE731C2}" type="presParOf" srcId="{4FA080DB-D300-48E2-A114-6E36143009CF}" destId="{D8B84718-98D9-49BD-97F1-B3659393B311}" srcOrd="15" destOrd="0" presId="urn:microsoft.com/office/officeart/2008/layout/LinedList"/>
    <dgm:cxn modelId="{8A5E1C47-CD7B-47E1-82CA-14BFA99C2A66}" type="presParOf" srcId="{D8B84718-98D9-49BD-97F1-B3659393B311}" destId="{9FB2A6DA-A266-4722-BC05-E82D8BD50BAA}" srcOrd="0" destOrd="0" presId="urn:microsoft.com/office/officeart/2008/layout/LinedList"/>
    <dgm:cxn modelId="{E8FE84EE-A6DE-4392-A022-DE91C1E9CAAF}" type="presParOf" srcId="{D8B84718-98D9-49BD-97F1-B3659393B311}" destId="{2499C925-243C-4304-88D5-E415557E145A}" srcOrd="1" destOrd="0" presId="urn:microsoft.com/office/officeart/2008/layout/LinedList"/>
    <dgm:cxn modelId="{A4113FB7-08E0-4394-9369-CFC56D08F5EB}" type="presParOf" srcId="{4FA080DB-D300-48E2-A114-6E36143009CF}" destId="{1F0AAA7E-5D03-4FFB-8570-6DDCA8D894BB}" srcOrd="16" destOrd="0" presId="urn:microsoft.com/office/officeart/2008/layout/LinedList"/>
    <dgm:cxn modelId="{B994E974-96FD-49A9-98D4-EFFB7CE1B586}" type="presParOf" srcId="{4FA080DB-D300-48E2-A114-6E36143009CF}" destId="{A83C622E-5C20-4D80-8F8E-A4AE66EB5A59}" srcOrd="17" destOrd="0" presId="urn:microsoft.com/office/officeart/2008/layout/LinedList"/>
    <dgm:cxn modelId="{E73AE4CD-43C4-4277-A84D-FB5CFA583155}" type="presParOf" srcId="{A83C622E-5C20-4D80-8F8E-A4AE66EB5A59}" destId="{362A7C8D-3EDF-4D08-AF1E-72AEF371AC36}" srcOrd="0" destOrd="0" presId="urn:microsoft.com/office/officeart/2008/layout/LinedList"/>
    <dgm:cxn modelId="{A8C2B899-2349-4307-B2DD-6E04DBE19D8F}" type="presParOf" srcId="{A83C622E-5C20-4D80-8F8E-A4AE66EB5A59}" destId="{8C2E5A22-393F-4340-B88F-59C6C570E8AC}" srcOrd="1" destOrd="0" presId="urn:microsoft.com/office/officeart/2008/layout/LinedList"/>
    <dgm:cxn modelId="{4A341874-79AB-41A1-9848-F19456D964A1}" type="presParOf" srcId="{4FA080DB-D300-48E2-A114-6E36143009CF}" destId="{42A2388E-4710-4778-AF84-679F02F16B8D}" srcOrd="18" destOrd="0" presId="urn:microsoft.com/office/officeart/2008/layout/LinedList"/>
    <dgm:cxn modelId="{E37393CD-1C9E-4CEE-9D85-E99F00915732}" type="presParOf" srcId="{4FA080DB-D300-48E2-A114-6E36143009CF}" destId="{4899DDC4-9221-48AE-BF59-3286936E750B}" srcOrd="19" destOrd="0" presId="urn:microsoft.com/office/officeart/2008/layout/LinedList"/>
    <dgm:cxn modelId="{D578841A-F221-4A60-933C-470B60413093}" type="presParOf" srcId="{4899DDC4-9221-48AE-BF59-3286936E750B}" destId="{B2F35BB1-4561-49E3-A44D-CE6F9A3A114E}" srcOrd="0" destOrd="0" presId="urn:microsoft.com/office/officeart/2008/layout/LinedList"/>
    <dgm:cxn modelId="{23D0AD49-636D-4A51-93B2-083017AED97F}" type="presParOf" srcId="{4899DDC4-9221-48AE-BF59-3286936E750B}" destId="{1544F780-DE52-43EF-9B13-1E37A2A73C4B}" srcOrd="1" destOrd="0" presId="urn:microsoft.com/office/officeart/2008/layout/LinedList"/>
    <dgm:cxn modelId="{B5AF5D99-7CFB-4CCA-9448-6F8AE1F2EE42}" type="presParOf" srcId="{4FA080DB-D300-48E2-A114-6E36143009CF}" destId="{03880878-F90B-43A6-9FF3-0391DF8C1C30}" srcOrd="20" destOrd="0" presId="urn:microsoft.com/office/officeart/2008/layout/LinedList"/>
    <dgm:cxn modelId="{CAE5928A-872A-411A-AAF0-3A6B3C4480B1}" type="presParOf" srcId="{4FA080DB-D300-48E2-A114-6E36143009CF}" destId="{BD77707A-E506-45B4-AA73-5133720ABB1F}" srcOrd="21" destOrd="0" presId="urn:microsoft.com/office/officeart/2008/layout/LinedList"/>
    <dgm:cxn modelId="{4E3A5701-95A1-4F1A-A89E-35E36D65FBD8}" type="presParOf" srcId="{BD77707A-E506-45B4-AA73-5133720ABB1F}" destId="{082927B2-6FDC-4C8C-B4E0-4A58C0A3ECF5}" srcOrd="0" destOrd="0" presId="urn:microsoft.com/office/officeart/2008/layout/LinedList"/>
    <dgm:cxn modelId="{D14AB0D4-20CE-4019-A648-A33358ED755F}" type="presParOf" srcId="{BD77707A-E506-45B4-AA73-5133720ABB1F}" destId="{7F6A7B78-A703-4AB1-9949-AFCB3E43CE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DAB9B-B8EC-4583-B026-D522475B9E46}">
      <dsp:nvSpPr>
        <dsp:cNvPr id="0" name=""/>
        <dsp:cNvSpPr/>
      </dsp:nvSpPr>
      <dsp:spPr>
        <a:xfrm>
          <a:off x="0" y="2460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DC2EFF-B207-4C8A-8F75-2A279767E974}">
      <dsp:nvSpPr>
        <dsp:cNvPr id="0" name=""/>
        <dsp:cNvSpPr/>
      </dsp:nvSpPr>
      <dsp:spPr>
        <a:xfrm>
          <a:off x="0" y="2460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Introduction</a:t>
          </a:r>
          <a:endParaRPr lang="en-US" sz="2100" kern="1200">
            <a:latin typeface="Calibri"/>
            <a:ea typeface="Calibri"/>
            <a:cs typeface="Calibri"/>
          </a:endParaRPr>
        </a:p>
      </dsp:txBody>
      <dsp:txXfrm>
        <a:off x="0" y="2460"/>
        <a:ext cx="10969943" cy="457583"/>
      </dsp:txXfrm>
    </dsp:sp>
    <dsp:sp modelId="{2DD79375-564B-486A-B1BE-4C0B27B0DE6A}">
      <dsp:nvSpPr>
        <dsp:cNvPr id="0" name=""/>
        <dsp:cNvSpPr/>
      </dsp:nvSpPr>
      <dsp:spPr>
        <a:xfrm>
          <a:off x="0" y="460044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2E7E46-1BF6-4EB6-BF6B-7E01DE44696A}">
      <dsp:nvSpPr>
        <dsp:cNvPr id="0" name=""/>
        <dsp:cNvSpPr/>
      </dsp:nvSpPr>
      <dsp:spPr>
        <a:xfrm>
          <a:off x="0" y="460044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Literature Review</a:t>
          </a:r>
        </a:p>
      </dsp:txBody>
      <dsp:txXfrm>
        <a:off x="0" y="460044"/>
        <a:ext cx="10969943" cy="457583"/>
      </dsp:txXfrm>
    </dsp:sp>
    <dsp:sp modelId="{22C440B0-F732-46AE-9DDD-98AD0F541C7C}">
      <dsp:nvSpPr>
        <dsp:cNvPr id="0" name=""/>
        <dsp:cNvSpPr/>
      </dsp:nvSpPr>
      <dsp:spPr>
        <a:xfrm>
          <a:off x="0" y="917627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26F2DA-09A6-4909-843D-815801E51EE6}">
      <dsp:nvSpPr>
        <dsp:cNvPr id="0" name=""/>
        <dsp:cNvSpPr/>
      </dsp:nvSpPr>
      <dsp:spPr>
        <a:xfrm>
          <a:off x="0" y="917627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Research Objective &amp; Questions</a:t>
          </a:r>
        </a:p>
      </dsp:txBody>
      <dsp:txXfrm>
        <a:off x="0" y="917627"/>
        <a:ext cx="10969943" cy="457583"/>
      </dsp:txXfrm>
    </dsp:sp>
    <dsp:sp modelId="{500C9A18-8716-414E-B5EE-D1E3CDC07730}">
      <dsp:nvSpPr>
        <dsp:cNvPr id="0" name=""/>
        <dsp:cNvSpPr/>
      </dsp:nvSpPr>
      <dsp:spPr>
        <a:xfrm>
          <a:off x="0" y="1375211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98D23B-CE40-4576-B2D1-1E08362AA8A8}">
      <dsp:nvSpPr>
        <dsp:cNvPr id="0" name=""/>
        <dsp:cNvSpPr/>
      </dsp:nvSpPr>
      <dsp:spPr>
        <a:xfrm>
          <a:off x="0" y="1375211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Methodology</a:t>
          </a:r>
        </a:p>
      </dsp:txBody>
      <dsp:txXfrm>
        <a:off x="0" y="1375211"/>
        <a:ext cx="10969943" cy="457583"/>
      </dsp:txXfrm>
    </dsp:sp>
    <dsp:sp modelId="{65E4F561-B83D-4045-9D8F-3C0EA7356555}">
      <dsp:nvSpPr>
        <dsp:cNvPr id="0" name=""/>
        <dsp:cNvSpPr/>
      </dsp:nvSpPr>
      <dsp:spPr>
        <a:xfrm>
          <a:off x="0" y="1832795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30FD40F-E73D-45AB-A578-D57C15C36524}">
      <dsp:nvSpPr>
        <dsp:cNvPr id="0" name=""/>
        <dsp:cNvSpPr/>
      </dsp:nvSpPr>
      <dsp:spPr>
        <a:xfrm>
          <a:off x="0" y="1832795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Qualitative Analysis</a:t>
          </a:r>
        </a:p>
      </dsp:txBody>
      <dsp:txXfrm>
        <a:off x="0" y="1832795"/>
        <a:ext cx="10969943" cy="457583"/>
      </dsp:txXfrm>
    </dsp:sp>
    <dsp:sp modelId="{F4481884-9B1B-4096-BF49-42C5261447D7}">
      <dsp:nvSpPr>
        <dsp:cNvPr id="0" name=""/>
        <dsp:cNvSpPr/>
      </dsp:nvSpPr>
      <dsp:spPr>
        <a:xfrm>
          <a:off x="0" y="2290379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031CCC-8D68-4537-AD44-C887A9D0F8CA}">
      <dsp:nvSpPr>
        <dsp:cNvPr id="0" name=""/>
        <dsp:cNvSpPr/>
      </dsp:nvSpPr>
      <dsp:spPr>
        <a:xfrm>
          <a:off x="0" y="2290379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>
              <a:latin typeface="Calibri"/>
              <a:ea typeface="Calibri"/>
              <a:cs typeface="Calibri"/>
            </a:rPr>
            <a:t>Quantitative Analysis Framework</a:t>
          </a:r>
        </a:p>
      </dsp:txBody>
      <dsp:txXfrm>
        <a:off x="0" y="2290379"/>
        <a:ext cx="10969943" cy="457583"/>
      </dsp:txXfrm>
    </dsp:sp>
    <dsp:sp modelId="{3831675C-F77F-41BE-A13E-48A14240A4AA}">
      <dsp:nvSpPr>
        <dsp:cNvPr id="0" name=""/>
        <dsp:cNvSpPr/>
      </dsp:nvSpPr>
      <dsp:spPr>
        <a:xfrm>
          <a:off x="0" y="2747963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5BDF03-488D-48D2-B2FB-30D7F8A40EE2}">
      <dsp:nvSpPr>
        <dsp:cNvPr id="0" name=""/>
        <dsp:cNvSpPr/>
      </dsp:nvSpPr>
      <dsp:spPr>
        <a:xfrm>
          <a:off x="0" y="2747963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alibri"/>
              <a:ea typeface="Calibri"/>
              <a:cs typeface="Calibri"/>
            </a:rPr>
            <a:t>Quantitative Analysis</a:t>
          </a:r>
        </a:p>
      </dsp:txBody>
      <dsp:txXfrm>
        <a:off x="0" y="2747963"/>
        <a:ext cx="10969943" cy="457583"/>
      </dsp:txXfrm>
    </dsp:sp>
    <dsp:sp modelId="{668419C8-F08B-42A0-A806-04882F790164}">
      <dsp:nvSpPr>
        <dsp:cNvPr id="0" name=""/>
        <dsp:cNvSpPr/>
      </dsp:nvSpPr>
      <dsp:spPr>
        <a:xfrm>
          <a:off x="0" y="3205547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B2A6DA-A266-4722-BC05-E82D8BD50BAA}">
      <dsp:nvSpPr>
        <dsp:cNvPr id="0" name=""/>
        <dsp:cNvSpPr/>
      </dsp:nvSpPr>
      <dsp:spPr>
        <a:xfrm>
          <a:off x="0" y="3205547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alibri"/>
              <a:ea typeface="Calibri"/>
              <a:cs typeface="Calibri"/>
            </a:rPr>
            <a:t>Conclusion</a:t>
          </a:r>
        </a:p>
      </dsp:txBody>
      <dsp:txXfrm>
        <a:off x="0" y="3205547"/>
        <a:ext cx="10969943" cy="457583"/>
      </dsp:txXfrm>
    </dsp:sp>
    <dsp:sp modelId="{1F0AAA7E-5D03-4FFB-8570-6DDCA8D894BB}">
      <dsp:nvSpPr>
        <dsp:cNvPr id="0" name=""/>
        <dsp:cNvSpPr/>
      </dsp:nvSpPr>
      <dsp:spPr>
        <a:xfrm>
          <a:off x="0" y="3663131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2A7C8D-3EDF-4D08-AF1E-72AEF371AC36}">
      <dsp:nvSpPr>
        <dsp:cNvPr id="0" name=""/>
        <dsp:cNvSpPr/>
      </dsp:nvSpPr>
      <dsp:spPr>
        <a:xfrm>
          <a:off x="0" y="3663131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alibri"/>
              <a:ea typeface="Calibri"/>
              <a:cs typeface="Calibri"/>
            </a:rPr>
            <a:t>Limitations &amp; Future Enchancements</a:t>
          </a:r>
        </a:p>
      </dsp:txBody>
      <dsp:txXfrm>
        <a:off x="0" y="3663131"/>
        <a:ext cx="10969943" cy="457583"/>
      </dsp:txXfrm>
    </dsp:sp>
    <dsp:sp modelId="{42A2388E-4710-4778-AF84-679F02F16B8D}">
      <dsp:nvSpPr>
        <dsp:cNvPr id="0" name=""/>
        <dsp:cNvSpPr/>
      </dsp:nvSpPr>
      <dsp:spPr>
        <a:xfrm>
          <a:off x="0" y="4120715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2F35BB1-4561-49E3-A44D-CE6F9A3A114E}">
      <dsp:nvSpPr>
        <dsp:cNvPr id="0" name=""/>
        <dsp:cNvSpPr/>
      </dsp:nvSpPr>
      <dsp:spPr>
        <a:xfrm>
          <a:off x="0" y="4120715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alibri"/>
              <a:ea typeface="Calibri"/>
              <a:cs typeface="Calibri"/>
            </a:rPr>
            <a:t>References</a:t>
          </a:r>
        </a:p>
      </dsp:txBody>
      <dsp:txXfrm>
        <a:off x="0" y="4120715"/>
        <a:ext cx="10969943" cy="457583"/>
      </dsp:txXfrm>
    </dsp:sp>
    <dsp:sp modelId="{03880878-F90B-43A6-9FF3-0391DF8C1C30}">
      <dsp:nvSpPr>
        <dsp:cNvPr id="0" name=""/>
        <dsp:cNvSpPr/>
      </dsp:nvSpPr>
      <dsp:spPr>
        <a:xfrm>
          <a:off x="0" y="4578298"/>
          <a:ext cx="10969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82927B2-6FDC-4C8C-B4E0-4A58C0A3ECF5}">
      <dsp:nvSpPr>
        <dsp:cNvPr id="0" name=""/>
        <dsp:cNvSpPr/>
      </dsp:nvSpPr>
      <dsp:spPr>
        <a:xfrm>
          <a:off x="0" y="4578298"/>
          <a:ext cx="10969943" cy="457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alibri"/>
              <a:ea typeface="Calibri"/>
              <a:cs typeface="Calibri"/>
            </a:rPr>
            <a:t>Q&amp;A</a:t>
          </a:r>
        </a:p>
      </dsp:txBody>
      <dsp:txXfrm>
        <a:off x="0" y="4578298"/>
        <a:ext cx="10969943" cy="457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6aa86e1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6aa86e1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a16aa86e18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6aa86e1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6aa86e18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a16aa86e18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a4bd20f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a1a4bd20f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a4bd20f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a1a4bd20f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a4bd20f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a1a4bd20f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a4bd20f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a1a4bd20f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99103" y="2377757"/>
            <a:ext cx="10969943" cy="16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599103" y="4169781"/>
            <a:ext cx="10984755" cy="163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>
                <a:solidFill>
                  <a:srgbClr val="21212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3074445" y="1505253"/>
            <a:ext cx="5768227" cy="988447"/>
            <a:chOff x="422091" y="167321"/>
            <a:chExt cx="11100557" cy="988447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422091" y="1126871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47708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" name="Google Shape;18;p2"/>
          <p:cNvGrpSpPr/>
          <p:nvPr/>
        </p:nvGrpSpPr>
        <p:grpSpPr>
          <a:xfrm rot="10800000">
            <a:off x="3224535" y="484971"/>
            <a:ext cx="5768227" cy="988447"/>
            <a:chOff x="425241" y="167321"/>
            <a:chExt cx="11100557" cy="988447"/>
          </a:xfrm>
        </p:grpSpPr>
        <p:cxnSp>
          <p:nvCxnSpPr>
            <p:cNvPr id="19" name="Google Shape;19;p2"/>
            <p:cNvCxnSpPr/>
            <p:nvPr/>
          </p:nvCxnSpPr>
          <p:spPr>
            <a:xfrm>
              <a:off x="425241" y="1131584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47708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1" name="Google Shape;21;p2" descr="asu_wp_carey_horiz_rgb_maroongold_600ppi (2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35844" y="741761"/>
            <a:ext cx="4109516" cy="1460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36551" y="167321"/>
            <a:ext cx="11508978" cy="94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60025"/>
              </a:buClr>
              <a:buSzPts val="3200"/>
              <a:buFont typeface="Arial"/>
              <a:buNone/>
              <a:defRPr sz="3200">
                <a:solidFill>
                  <a:srgbClr val="8600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36551" y="1323604"/>
            <a:ext cx="11515724" cy="453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Char char="▪"/>
              <a:defRPr sz="2200">
                <a:solidFill>
                  <a:srgbClr val="424242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Char char="▪"/>
              <a:defRPr sz="2000">
                <a:solidFill>
                  <a:srgbClr val="424242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Char char="▪"/>
              <a:defRPr sz="1800">
                <a:solidFill>
                  <a:srgbClr val="424242"/>
                </a:solidFill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Char char="▪"/>
              <a:defRPr sz="1600">
                <a:solidFill>
                  <a:srgbClr val="424242"/>
                </a:solidFill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Char char="▪"/>
              <a:defRPr sz="1600">
                <a:solidFill>
                  <a:srgbClr val="42424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356547" y="5860517"/>
            <a:ext cx="11496117" cy="901132"/>
            <a:chOff x="356547" y="5860517"/>
            <a:chExt cx="11496117" cy="901132"/>
          </a:xfrm>
        </p:grpSpPr>
        <p:cxnSp>
          <p:nvCxnSpPr>
            <p:cNvPr id="26" name="Google Shape;26;p3"/>
            <p:cNvCxnSpPr/>
            <p:nvPr/>
          </p:nvCxnSpPr>
          <p:spPr>
            <a:xfrm rot="10800000">
              <a:off x="356547" y="6722343"/>
              <a:ext cx="11488982" cy="23916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>
              <a:off x="11852664" y="5860517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8" name="Google Shape;28;p3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80263" y="5991917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29;p3"/>
          <p:cNvGrpSpPr/>
          <p:nvPr/>
        </p:nvGrpSpPr>
        <p:grpSpPr>
          <a:xfrm>
            <a:off x="313487" y="155004"/>
            <a:ext cx="11538788" cy="988447"/>
            <a:chOff x="422091" y="167321"/>
            <a:chExt cx="11100557" cy="988447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422091" y="1126871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10800000">
              <a:off x="45075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Introduction">
  <p:cSld name="Section Introduc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36555" y="2376992"/>
            <a:ext cx="11515720" cy="11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200"/>
              <a:buFont typeface="Arial"/>
              <a:buNone/>
              <a:defRPr>
                <a:solidFill>
                  <a:srgbClr val="21212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336555" y="3553422"/>
            <a:ext cx="11515720" cy="157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lvl1pPr marL="457200" lvl="0" indent="-228600" algn="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3pPr>
            <a:lvl4pPr marL="1828800" lvl="3" indent="-228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4pPr>
            <a:lvl5pPr marL="2286000" lvl="4" indent="-228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5" name="Google Shape;35;p4"/>
          <p:cNvCxnSpPr/>
          <p:nvPr/>
        </p:nvCxnSpPr>
        <p:spPr>
          <a:xfrm>
            <a:off x="11862214" y="3527946"/>
            <a:ext cx="0" cy="988447"/>
          </a:xfrm>
          <a:prstGeom prst="straightConnector1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4"/>
          <p:cNvCxnSpPr/>
          <p:nvPr/>
        </p:nvCxnSpPr>
        <p:spPr>
          <a:xfrm rot="10800000">
            <a:off x="336550" y="3554035"/>
            <a:ext cx="11545677" cy="0"/>
          </a:xfrm>
          <a:prstGeom prst="straightConnector1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20922" y="5841201"/>
            <a:ext cx="11495728" cy="901132"/>
            <a:chOff x="320922" y="5841201"/>
            <a:chExt cx="11495728" cy="901132"/>
          </a:xfrm>
        </p:grpSpPr>
        <p:cxnSp>
          <p:nvCxnSpPr>
            <p:cNvPr id="38" name="Google Shape;38;p4"/>
            <p:cNvCxnSpPr/>
            <p:nvPr/>
          </p:nvCxnSpPr>
          <p:spPr>
            <a:xfrm>
              <a:off x="320922" y="6732282"/>
              <a:ext cx="11495728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4"/>
            <p:cNvCxnSpPr/>
            <p:nvPr/>
          </p:nvCxnSpPr>
          <p:spPr>
            <a:xfrm rot="10800000">
              <a:off x="336555" y="5841201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0" name="Google Shape;40;p4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6547" y="6000743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 / Check for Understanding">
  <p:cSld name="Section Divide / Check for Understanding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336550" y="2212390"/>
            <a:ext cx="11359321" cy="988447"/>
            <a:chOff x="477081" y="154683"/>
            <a:chExt cx="11100557" cy="988447"/>
          </a:xfrm>
        </p:grpSpPr>
        <p:cxnSp>
          <p:nvCxnSpPr>
            <p:cNvPr id="43" name="Google Shape;43;p5"/>
            <p:cNvCxnSpPr/>
            <p:nvPr/>
          </p:nvCxnSpPr>
          <p:spPr>
            <a:xfrm>
              <a:off x="477081" y="1114233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5"/>
            <p:cNvCxnSpPr/>
            <p:nvPr/>
          </p:nvCxnSpPr>
          <p:spPr>
            <a:xfrm rot="10800000">
              <a:off x="502353" y="154683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5" name="Google Shape;45;p5"/>
          <p:cNvGrpSpPr/>
          <p:nvPr/>
        </p:nvGrpSpPr>
        <p:grpSpPr>
          <a:xfrm rot="10800000">
            <a:off x="502352" y="1652327"/>
            <a:ext cx="11359447" cy="988447"/>
            <a:chOff x="451809" y="167321"/>
            <a:chExt cx="11100557" cy="988447"/>
          </a:xfrm>
        </p:grpSpPr>
        <p:cxnSp>
          <p:nvCxnSpPr>
            <p:cNvPr id="46" name="Google Shape;46;p5"/>
            <p:cNvCxnSpPr/>
            <p:nvPr/>
          </p:nvCxnSpPr>
          <p:spPr>
            <a:xfrm>
              <a:off x="451809" y="1126871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5"/>
            <p:cNvCxnSpPr/>
            <p:nvPr/>
          </p:nvCxnSpPr>
          <p:spPr>
            <a:xfrm rot="10800000">
              <a:off x="47708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8" name="Google Shape;48;p5"/>
          <p:cNvSpPr txBox="1">
            <a:spLocks noGrp="1"/>
          </p:cNvSpPr>
          <p:nvPr>
            <p:ph type="ctrTitle"/>
          </p:nvPr>
        </p:nvSpPr>
        <p:spPr>
          <a:xfrm>
            <a:off x="336550" y="1684165"/>
            <a:ext cx="1152524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25"/>
              </a:buClr>
              <a:buSzPts val="3200"/>
              <a:buFont typeface="Arial"/>
              <a:buNone/>
              <a:defRPr>
                <a:solidFill>
                  <a:srgbClr val="8600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356547" y="5860517"/>
            <a:ext cx="11496117" cy="901132"/>
            <a:chOff x="356547" y="5860517"/>
            <a:chExt cx="11496117" cy="901132"/>
          </a:xfrm>
        </p:grpSpPr>
        <p:cxnSp>
          <p:nvCxnSpPr>
            <p:cNvPr id="50" name="Google Shape;50;p5"/>
            <p:cNvCxnSpPr/>
            <p:nvPr/>
          </p:nvCxnSpPr>
          <p:spPr>
            <a:xfrm rot="10800000">
              <a:off x="356547" y="6722343"/>
              <a:ext cx="11488982" cy="23916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11852664" y="5860517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52" name="Google Shape;52;p5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80263" y="5991917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336550" y="1294826"/>
            <a:ext cx="5656289" cy="469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rgbClr val="414141"/>
              </a:buClr>
              <a:buSzPts val="2200"/>
              <a:buChar char="▪"/>
              <a:defRPr sz="2200">
                <a:solidFill>
                  <a:srgbClr val="41414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▪"/>
              <a:defRPr sz="2000">
                <a:solidFill>
                  <a:srgbClr val="41414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▪"/>
              <a:defRPr sz="1800">
                <a:solidFill>
                  <a:srgbClr val="414141"/>
                </a:solidFill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Char char="▪"/>
              <a:defRPr sz="1600">
                <a:solidFill>
                  <a:srgbClr val="414141"/>
                </a:solidFill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Char char="▪"/>
              <a:defRPr sz="1600">
                <a:solidFill>
                  <a:srgbClr val="414141"/>
                </a:solidFill>
              </a:defRPr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2"/>
          </p:nvPr>
        </p:nvSpPr>
        <p:spPr>
          <a:xfrm>
            <a:off x="6195985" y="1294824"/>
            <a:ext cx="5656289" cy="469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rgbClr val="414141"/>
              </a:buClr>
              <a:buSzPts val="2200"/>
              <a:buChar char="▪"/>
              <a:defRPr sz="2200">
                <a:solidFill>
                  <a:srgbClr val="41414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14141"/>
              </a:buClr>
              <a:buSzPts val="2000"/>
              <a:buChar char="▪"/>
              <a:defRPr sz="2000">
                <a:solidFill>
                  <a:srgbClr val="41414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14141"/>
              </a:buClr>
              <a:buSzPts val="1800"/>
              <a:buChar char="▪"/>
              <a:defRPr sz="1800">
                <a:solidFill>
                  <a:srgbClr val="414141"/>
                </a:solidFill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Char char="▪"/>
              <a:defRPr sz="1600">
                <a:solidFill>
                  <a:srgbClr val="414141"/>
                </a:solidFill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14141"/>
              </a:buClr>
              <a:buSzPts val="1600"/>
              <a:buChar char="▪"/>
              <a:defRPr sz="1600">
                <a:solidFill>
                  <a:srgbClr val="414141"/>
                </a:solidFill>
              </a:defRPr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336550" y="167321"/>
            <a:ext cx="11515725" cy="94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60025"/>
              </a:buClr>
              <a:buSzPts val="3200"/>
              <a:buFont typeface="Arial"/>
              <a:buNone/>
              <a:defRPr sz="3200">
                <a:solidFill>
                  <a:srgbClr val="8600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6"/>
          <p:cNvGrpSpPr/>
          <p:nvPr/>
        </p:nvGrpSpPr>
        <p:grpSpPr>
          <a:xfrm>
            <a:off x="313487" y="155004"/>
            <a:ext cx="11538788" cy="988447"/>
            <a:chOff x="422091" y="167321"/>
            <a:chExt cx="11100557" cy="988447"/>
          </a:xfrm>
        </p:grpSpPr>
        <p:cxnSp>
          <p:nvCxnSpPr>
            <p:cNvPr id="58" name="Google Shape;58;p6"/>
            <p:cNvCxnSpPr/>
            <p:nvPr/>
          </p:nvCxnSpPr>
          <p:spPr>
            <a:xfrm>
              <a:off x="422091" y="1126871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6"/>
            <p:cNvCxnSpPr/>
            <p:nvPr/>
          </p:nvCxnSpPr>
          <p:spPr>
            <a:xfrm rot="10800000">
              <a:off x="45075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" name="Google Shape;60;p6"/>
          <p:cNvGrpSpPr/>
          <p:nvPr/>
        </p:nvGrpSpPr>
        <p:grpSpPr>
          <a:xfrm>
            <a:off x="356547" y="5860517"/>
            <a:ext cx="11496117" cy="901132"/>
            <a:chOff x="356547" y="5860517"/>
            <a:chExt cx="11496117" cy="901132"/>
          </a:xfrm>
        </p:grpSpPr>
        <p:cxnSp>
          <p:nvCxnSpPr>
            <p:cNvPr id="61" name="Google Shape;61;p6"/>
            <p:cNvCxnSpPr/>
            <p:nvPr/>
          </p:nvCxnSpPr>
          <p:spPr>
            <a:xfrm rot="10800000">
              <a:off x="356547" y="6722343"/>
              <a:ext cx="11488982" cy="23916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6"/>
            <p:cNvCxnSpPr/>
            <p:nvPr/>
          </p:nvCxnSpPr>
          <p:spPr>
            <a:xfrm rot="10800000">
              <a:off x="11852664" y="5860517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63" name="Google Shape;63;p6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80263" y="5991917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336551" y="167321"/>
            <a:ext cx="11515724" cy="94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3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313487" y="155004"/>
            <a:ext cx="11538788" cy="988447"/>
            <a:chOff x="422091" y="167321"/>
            <a:chExt cx="11100557" cy="988447"/>
          </a:xfrm>
        </p:grpSpPr>
        <p:cxnSp>
          <p:nvCxnSpPr>
            <p:cNvPr id="67" name="Google Shape;67;p7"/>
            <p:cNvCxnSpPr/>
            <p:nvPr/>
          </p:nvCxnSpPr>
          <p:spPr>
            <a:xfrm>
              <a:off x="422091" y="1126871"/>
              <a:ext cx="11100557" cy="0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7"/>
            <p:cNvCxnSpPr/>
            <p:nvPr/>
          </p:nvCxnSpPr>
          <p:spPr>
            <a:xfrm rot="10800000">
              <a:off x="450751" y="167321"/>
              <a:ext cx="0" cy="988447"/>
            </a:xfrm>
            <a:prstGeom prst="straightConnector1">
              <a:avLst/>
            </a:prstGeom>
            <a:noFill/>
            <a:ln w="635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9" name="Google Shape;69;p7"/>
          <p:cNvGrpSpPr/>
          <p:nvPr/>
        </p:nvGrpSpPr>
        <p:grpSpPr>
          <a:xfrm>
            <a:off x="356547" y="5860517"/>
            <a:ext cx="11496117" cy="901132"/>
            <a:chOff x="356547" y="5860517"/>
            <a:chExt cx="11496117" cy="901132"/>
          </a:xfrm>
        </p:grpSpPr>
        <p:cxnSp>
          <p:nvCxnSpPr>
            <p:cNvPr id="70" name="Google Shape;70;p7"/>
            <p:cNvCxnSpPr/>
            <p:nvPr/>
          </p:nvCxnSpPr>
          <p:spPr>
            <a:xfrm rot="10800000">
              <a:off x="356547" y="6722343"/>
              <a:ext cx="11488982" cy="23916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7"/>
            <p:cNvCxnSpPr/>
            <p:nvPr/>
          </p:nvCxnSpPr>
          <p:spPr>
            <a:xfrm rot="10800000">
              <a:off x="11852664" y="5860517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72" name="Google Shape;72;p7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80263" y="5991917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356547" y="5860517"/>
            <a:ext cx="11496117" cy="901132"/>
            <a:chOff x="356547" y="5860517"/>
            <a:chExt cx="11496117" cy="901132"/>
          </a:xfrm>
        </p:grpSpPr>
        <p:cxnSp>
          <p:nvCxnSpPr>
            <p:cNvPr id="75" name="Google Shape;75;p8"/>
            <p:cNvCxnSpPr/>
            <p:nvPr/>
          </p:nvCxnSpPr>
          <p:spPr>
            <a:xfrm rot="10800000">
              <a:off x="356547" y="6722343"/>
              <a:ext cx="11488982" cy="23916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8"/>
            <p:cNvCxnSpPr/>
            <p:nvPr/>
          </p:nvCxnSpPr>
          <p:spPr>
            <a:xfrm rot="10800000">
              <a:off x="11852664" y="5860517"/>
              <a:ext cx="0" cy="901132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77" name="Google Shape;77;p8" descr="asu_wp_carey_horiz_rgb_maroongold_600ppi (2)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780263" y="5991917"/>
              <a:ext cx="2055107" cy="730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D8D8D8"/>
            </a:gs>
          </a:gsLst>
          <a:lin ang="162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609441" y="1242635"/>
            <a:ext cx="10969943" cy="490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441" y="118817"/>
            <a:ext cx="10969943" cy="986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short-reads/2024/10/24/majority-of-americans-arent-confident-in-the-safety-and-reliability-of-cryptocurrency" TargetMode="External"/><Relationship Id="rId2" Type="http://schemas.openxmlformats.org/officeDocument/2006/relationships/hyperlink" Target="https://www.fsb.org/uploads/R070923-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ber.org/papers/w31856" TargetMode="External"/><Relationship Id="rId5" Type="http://schemas.openxmlformats.org/officeDocument/2006/relationships/hyperlink" Target="https://www.kansascityfed.org/research/research-working-papers/financial-literacy-risk-tolerance-and-cryptocurrency-ownership-in-the-united-states/" TargetMode="External"/><Relationship Id="rId4" Type="http://schemas.openxmlformats.org/officeDocument/2006/relationships/hyperlink" Target="https://www.goldmarket.fr/en/the-implications-of-demographic-changes-on-the-demand-for-gold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336550" y="1993975"/>
            <a:ext cx="11515800" cy="1539900"/>
          </a:xfrm>
          <a:prstGeom prst="rect">
            <a:avLst/>
          </a:prstGeom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Digital Asset Integration in Global Financial Cycles: A Regime Switching Perspective</a:t>
            </a:r>
            <a:endParaRPr sz="411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331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8793A-6861-E9F8-CB3D-E78416F7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3247" y="5096655"/>
            <a:ext cx="3549103" cy="784017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Presented By: Group 8</a:t>
            </a:r>
            <a:endParaRPr lang="en-IN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609441" y="118817"/>
            <a:ext cx="10969943" cy="986083"/>
          </a:xfrm>
        </p:spPr>
        <p:txBody>
          <a:bodyPr spcFirstLastPara="1" wrap="square" lIns="121875" tIns="60925" rIns="121875" bIns="609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alibri"/>
                <a:ea typeface="Calibri"/>
                <a:cs typeface="Calibri"/>
              </a:rPr>
              <a:t>Agenda</a:t>
            </a:r>
            <a:r>
              <a:rPr lang="en-US"/>
              <a:t>:</a:t>
            </a:r>
          </a:p>
        </p:txBody>
      </p:sp>
      <p:graphicFrame>
        <p:nvGraphicFramePr>
          <p:cNvPr id="93" name="Google Shape;91;p10">
            <a:extLst>
              <a:ext uri="{FF2B5EF4-FFF2-40B4-BE49-F238E27FC236}">
                <a16:creationId xmlns:a16="http://schemas.microsoft.com/office/drawing/2014/main" id="{C65430C5-1BC7-535C-57C0-DFFDD1F6C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9554417"/>
              </p:ext>
            </p:extLst>
          </p:nvPr>
        </p:nvGraphicFramePr>
        <p:xfrm>
          <a:off x="609441" y="1295400"/>
          <a:ext cx="10969943" cy="5038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336513" y="1558472"/>
            <a:ext cx="115158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lvl="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Financial markets move through different phases: </a:t>
            </a: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bull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(rising), </a:t>
            </a: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bear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(falling), and</a:t>
            </a: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stable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(sideways).</a:t>
            </a: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project applies</a:t>
            </a: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machine-learning models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(Hidden Markov Model &amp; K-Means Clustering) to detect these hidden regimes automatically.</a:t>
            </a: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examines how cryptocurrencies (BTC, ETH) behave relative to traditional assets (S&amp;P 500, NASDAQ, Gold) within each regime.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20" lvl="0" indent="-317420" algn="l" rtl="0"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336551" y="167321"/>
            <a:ext cx="11508978" cy="94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Introduction (1/2)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body" idx="1"/>
          </p:nvPr>
        </p:nvSpPr>
        <p:spPr>
          <a:xfrm>
            <a:off x="272148" y="4652974"/>
            <a:ext cx="11515800" cy="10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indent="0" algn="just"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 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purpose is </a:t>
            </a: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understand when crypto behaves independently and when it moves with global markets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helping explain its role as a risk asset or diversifier across bull, bear, and stable periods.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336551" y="167321"/>
            <a:ext cx="115089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Introduction (2/2)</a:t>
            </a:r>
            <a:endParaRPr lang="en-US" sz="340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128375" y="1399775"/>
            <a:ext cx="5777700" cy="49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456565" lvl="0" indent="-316865" algn="ctr" rtl="0"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None/>
            </a:pPr>
            <a:r>
              <a:rPr lang="en-US" sz="20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lang="en-US" sz="2000" b="1" u="sng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lvl="0" indent="-35560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markets cycle through bull, bear, and stable phases driven by sentiment, liquidity, and policy.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the last decade, cryptocurrencies have evolved from niche digital tokens to mainstream financial assets.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Crypto-traditional market integration has accelerated through: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of institutional investors (hedge funds, ETFs, asset managers)</a:t>
            </a:r>
            <a:endParaRPr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Expanding regulation and policy oversight</a:t>
            </a:r>
            <a:endParaRPr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Rising data transparency &amp; market maturity</a:t>
            </a:r>
            <a:endParaRPr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6565" lvl="0" indent="-316865" algn="l" rtl="0"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2200"/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1"/>
          </p:nvPr>
        </p:nvSpPr>
        <p:spPr>
          <a:xfrm>
            <a:off x="6088025" y="1399775"/>
            <a:ext cx="5965500" cy="49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139700" lvl="0" indent="0" algn="ctr" rtl="0"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None/>
            </a:pPr>
            <a:r>
              <a:rPr lang="en-US" sz="2000" b="1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Importance</a:t>
            </a:r>
            <a:endParaRPr lang="en-US" sz="2000" b="1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lvl="0" indent="-355600" algn="l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Rapid institutional and retail adoption makes crypto a core asset class.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volatility + potential for high returns → major impact on risk management and portfolio diversification.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Growing public trust and mainstream acceptance demand better tools to understand crypto’s market behavior.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Identifying when crypto aligns with or diverges from equities is critical for managing systemic risk and optimizing investment timing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82600" lvl="0" indent="-342900" algn="l" rtl="0"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Arial" panose="020B0604020202020204" pitchFamily="34" charset="0"/>
              <a:buChar char="•"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5B39C3-F704-6400-4D8C-F35A81C43157}"/>
              </a:ext>
            </a:extLst>
          </p:cNvPr>
          <p:cNvCxnSpPr/>
          <p:nvPr/>
        </p:nvCxnSpPr>
        <p:spPr>
          <a:xfrm>
            <a:off x="5943558" y="1914684"/>
            <a:ext cx="59001" cy="4183466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body" idx="1"/>
          </p:nvPr>
        </p:nvSpPr>
        <p:spPr>
          <a:xfrm>
            <a:off x="204409" y="1100316"/>
            <a:ext cx="11984595" cy="283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88900" indent="0">
              <a:buSzPts val="1800"/>
              <a:buNone/>
            </a:pPr>
            <a:r>
              <a:rPr lang="en-US" sz="2400" b="1">
                <a:solidFill>
                  <a:schemeClr val="bg2"/>
                </a:solidFill>
                <a:latin typeface="Calibri"/>
                <a:ea typeface="Calibri"/>
              </a:rPr>
              <a:t>Crypto Evolution &amp; Market Regimes</a:t>
            </a:r>
            <a:endParaRPr lang="en-US" sz="2400" b="1" u="sng">
              <a:solidFill>
                <a:schemeClr val="bg2"/>
              </a:solidFill>
              <a:latin typeface="Calibri"/>
              <a:ea typeface="Calibri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r>
              <a:rPr lang="en-US" sz="2000">
                <a:latin typeface="Calibri"/>
                <a:ea typeface="Calibri"/>
              </a:rPr>
              <a:t>Cryptocurrencies evolved from speculative assets into integrated financial instruments (Bouri et al., 2017; Corbet et al., 2020). </a:t>
            </a:r>
            <a:endParaRPr lang="en-US" sz="2000" u="sng">
              <a:solidFill>
                <a:schemeClr val="accent4"/>
              </a:solidFill>
              <a:latin typeface="Calibri"/>
              <a:ea typeface="Calibri"/>
            </a:endParaRP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endParaRPr lang="en-US" sz="2000">
              <a:latin typeface="Calibri"/>
              <a:ea typeface="Calibri"/>
            </a:endParaRP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r>
              <a:rPr lang="en-US" sz="2000">
                <a:latin typeface="Calibri"/>
                <a:ea typeface="Calibri"/>
              </a:rPr>
              <a:t>Early studies showed weak and unstable correlations with traditional markets (Bouri et al., 2017) </a:t>
            </a: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endParaRPr lang="en-US" sz="2000">
              <a:latin typeface="Calibri"/>
            </a:endParaRP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r>
              <a:rPr lang="en-US" sz="2000">
                <a:latin typeface="Calibri"/>
                <a:ea typeface="Calibri"/>
              </a:rPr>
              <a:t>Later research finds strong co-movement during crises (Corbet et al., 2020; </a:t>
            </a:r>
            <a:r>
              <a:rPr lang="en-US" sz="2000" err="1">
                <a:latin typeface="Calibri"/>
                <a:ea typeface="Calibri"/>
              </a:rPr>
              <a:t>Koutrouli</a:t>
            </a:r>
            <a:r>
              <a:rPr lang="en-US" sz="2000">
                <a:latin typeface="Calibri"/>
                <a:ea typeface="Calibri"/>
              </a:rPr>
              <a:t> et al., 2025) </a:t>
            </a: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r>
              <a:rPr lang="en-US" sz="2000">
                <a:latin typeface="Calibri"/>
                <a:ea typeface="Calibri"/>
              </a:rPr>
              <a:t>Institutionalization through ETFs, derivatives, and hedge funds increased crypto–equity integration (Kayani et al., 2024). </a:t>
            </a: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r>
              <a:rPr lang="en-US" sz="2000">
                <a:latin typeface="Calibri"/>
                <a:ea typeface="Calibri"/>
              </a:rPr>
              <a:t>Market regimes (calm, transition, crisis) explain time-varying behavior better than static models (Sebastião &amp; Godinho, 2021). </a:t>
            </a:r>
          </a:p>
          <a:p>
            <a:pPr>
              <a:buSzPts val="1800"/>
              <a:buFont typeface="Noto Sans Symbols" panose="020B0604020202020204" pitchFamily="34" charset="0"/>
              <a:buChar char="▪"/>
            </a:pPr>
            <a:endParaRPr lang="en-US" sz="2000">
              <a:latin typeface="Calibri"/>
            </a:endParaRPr>
          </a:p>
          <a:p>
            <a:pPr indent="-342900"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</a:rPr>
              <a:t>Hidden Markov Models (HMM) capture state-dependent volatility and correlations (Suárez-Cetrulo et al., 2023).</a:t>
            </a:r>
            <a:endParaRPr lang="en-US" sz="2000">
              <a:latin typeface="Calibri"/>
            </a:endParaRPr>
          </a:p>
          <a:p>
            <a:pPr marL="139700" indent="0">
              <a:spcBef>
                <a:spcPts val="0"/>
              </a:spcBef>
              <a:buNone/>
            </a:pPr>
            <a:endParaRPr lang="en-US" sz="2000">
              <a:solidFill>
                <a:srgbClr val="000000"/>
              </a:solidFill>
              <a:ea typeface="Calibri"/>
            </a:endParaRP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/>
          </p:nvPr>
        </p:nvSpPr>
        <p:spPr>
          <a:xfrm>
            <a:off x="336550" y="167321"/>
            <a:ext cx="11515725" cy="94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Literature Review (1/3) </a:t>
            </a:r>
            <a:endParaRPr lang="en-US" sz="340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8E2C-4C55-76FA-D923-059C0765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latin typeface="Calibri"/>
              </a:rPr>
              <a:t>Literature Review (2/3)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98B2E-984D-05CF-F1E7-AD49B2CFB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>
                <a:solidFill>
                  <a:schemeClr val="bg2"/>
                </a:solidFill>
                <a:latin typeface="Calibri"/>
              </a:rPr>
              <a:t>Volatility, Spillovers &amp; Machine Learning Evidence</a:t>
            </a:r>
          </a:p>
          <a:p>
            <a:pPr>
              <a:buNone/>
            </a:pPr>
            <a:r>
              <a:rPr lang="en-US" b="1">
                <a:latin typeface="Calibri"/>
              </a:rPr>
              <a:t>GARCH </a:t>
            </a:r>
            <a:r>
              <a:rPr lang="en-US">
                <a:latin typeface="Calibri"/>
              </a:rPr>
              <a:t>family models confirm strong volatility clustering and asymmetric shock responses in crypto markets.</a:t>
            </a:r>
          </a:p>
          <a:p>
            <a:pPr>
              <a:buNone/>
            </a:pPr>
            <a:endParaRPr lang="en-US">
              <a:latin typeface="Calibri"/>
            </a:endParaRPr>
          </a:p>
          <a:p>
            <a:pPr>
              <a:buNone/>
            </a:pPr>
            <a:r>
              <a:rPr lang="en-US" b="1">
                <a:latin typeface="Calibri"/>
              </a:rPr>
              <a:t>DCC-GARCH</a:t>
            </a:r>
            <a:r>
              <a:rPr lang="en-US">
                <a:latin typeface="Calibri"/>
              </a:rPr>
              <a:t> models show correlations between crypto and equities spike during crises which means reduced diversification.</a:t>
            </a:r>
          </a:p>
          <a:p>
            <a:pPr>
              <a:buNone/>
            </a:pPr>
            <a:endParaRPr lang="en-US">
              <a:latin typeface="Calibri"/>
            </a:endParaRPr>
          </a:p>
          <a:p>
            <a:pPr>
              <a:buNone/>
            </a:pPr>
            <a:r>
              <a:rPr lang="en-US">
                <a:latin typeface="Calibri"/>
              </a:rPr>
              <a:t>Spillover indexes </a:t>
            </a:r>
            <a:r>
              <a:rPr lang="en-US" b="1">
                <a:latin typeface="Calibri"/>
              </a:rPr>
              <a:t>(Diebold–Yilmaz) </a:t>
            </a:r>
            <a:r>
              <a:rPr lang="en-US">
                <a:latin typeface="Calibri"/>
              </a:rPr>
              <a:t>reveal </a:t>
            </a:r>
            <a:r>
              <a:rPr lang="en-US" b="1">
                <a:latin typeface="Calibri"/>
              </a:rPr>
              <a:t>rising volatility </a:t>
            </a:r>
            <a:r>
              <a:rPr lang="en-US">
                <a:latin typeface="Calibri"/>
              </a:rPr>
              <a:t>transmission, especially during COVID-19.</a:t>
            </a:r>
          </a:p>
          <a:p>
            <a:pPr>
              <a:buNone/>
            </a:pPr>
            <a:endParaRPr lang="en-US" b="1">
              <a:latin typeface="Calibri"/>
            </a:endParaRPr>
          </a:p>
          <a:p>
            <a:pPr>
              <a:buNone/>
            </a:pPr>
            <a:r>
              <a:rPr lang="en-US" b="1">
                <a:latin typeface="Calibri"/>
              </a:rPr>
              <a:t>Granger causality &amp; wavelet analysi</a:t>
            </a:r>
            <a:r>
              <a:rPr lang="en-US">
                <a:latin typeface="Calibri"/>
              </a:rPr>
              <a:t>s show time and frequency dependent lead-lag relationships.</a:t>
            </a:r>
          </a:p>
          <a:p>
            <a:pPr>
              <a:buNone/>
            </a:pPr>
            <a:endParaRPr lang="en-US">
              <a:latin typeface="Calibri"/>
            </a:endParaRPr>
          </a:p>
          <a:p>
            <a:pPr marL="88900" indent="0">
              <a:buNone/>
            </a:pPr>
            <a:r>
              <a:rPr lang="en-US" b="1">
                <a:latin typeface="Calibri"/>
              </a:rPr>
              <a:t>Machine learning (HMM, clustering, neural networks)</a:t>
            </a:r>
            <a:r>
              <a:rPr lang="en-US">
                <a:latin typeface="Calibri"/>
              </a:rPr>
              <a:t> improves regime detection and nonlinear pattern recognition.</a:t>
            </a:r>
          </a:p>
        </p:txBody>
      </p:sp>
    </p:spTree>
    <p:extLst>
      <p:ext uri="{BB962C8B-B14F-4D97-AF65-F5344CB8AC3E}">
        <p14:creationId xmlns:p14="http://schemas.microsoft.com/office/powerpoint/2010/main" val="43944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336550" y="167321"/>
            <a:ext cx="115158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Literature Review (3/3)</a:t>
            </a:r>
            <a:endParaRPr lang="en-US" sz="3400" b="0">
              <a:solidFill>
                <a:schemeClr val="accent2"/>
              </a:solidFill>
              <a:ea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68308-6ABF-BA8E-3E77-E661C2E25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0" y="1107384"/>
            <a:ext cx="11315386" cy="4894568"/>
          </a:xfrm>
        </p:spPr>
        <p:txBody>
          <a:bodyPr>
            <a:normAutofit fontScale="70000" lnSpcReduction="20000"/>
          </a:bodyPr>
          <a:lstStyle/>
          <a:p>
            <a:pPr marL="88900" indent="0">
              <a:buNone/>
            </a:pPr>
            <a:r>
              <a:rPr lang="en-US" sz="2400" b="1">
                <a:solidFill>
                  <a:schemeClr val="bg2"/>
                </a:solidFill>
                <a:latin typeface="Calibri"/>
              </a:rPr>
              <a:t>Macro Drivers, Safe-Haven Debate &amp; Research Gap</a:t>
            </a:r>
            <a:endParaRPr lang="en-US" sz="2400">
              <a:solidFill>
                <a:schemeClr val="bg2"/>
              </a:solidFill>
              <a:latin typeface="Calibri"/>
            </a:endParaRPr>
          </a:p>
          <a:p>
            <a:pPr marL="88900" indent="0">
              <a:buNone/>
            </a:pPr>
            <a:endParaRPr lang="en-US" sz="2400" b="1">
              <a:solidFill>
                <a:schemeClr val="bg2"/>
              </a:solidFill>
              <a:latin typeface="Calibri"/>
            </a:endParaRPr>
          </a:p>
          <a:p>
            <a:r>
              <a:rPr lang="en-US">
                <a:latin typeface="Calibri"/>
              </a:rPr>
              <a:t>Regime transitions strongly influenced by VIX, DXY, interest rates, and liquidity conditions.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Bitcoin’s role shifted from safe-haven narrative to high-beta risk asset, especially post-2020.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Emerging markets show stronger crypto–equity integration than developed markets.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On-chain data (transactions, active addresses) and sentiment improve regime forecasting.</a:t>
            </a:r>
          </a:p>
          <a:p>
            <a:endParaRPr lang="en-US"/>
          </a:p>
          <a:p>
            <a:pPr marL="88900" indent="0">
              <a:buNone/>
            </a:pPr>
            <a:r>
              <a:rPr lang="en-US" sz="2800" b="1">
                <a:latin typeface="Calibri"/>
              </a:rPr>
              <a:t>Research Gap:</a:t>
            </a:r>
          </a:p>
          <a:p>
            <a:endParaRPr lang="en-US"/>
          </a:p>
          <a:p>
            <a:r>
              <a:rPr lang="en-US">
                <a:latin typeface="Calibri"/>
              </a:rPr>
              <a:t>Few fully integrated ML + econometric pipelines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Limited high-frequency regime studies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Weak cross-country standardized analysis</a:t>
            </a:r>
          </a:p>
          <a:p>
            <a:endParaRPr lang="en-US">
              <a:latin typeface="Calibri"/>
            </a:endParaRPr>
          </a:p>
          <a:p>
            <a:r>
              <a:rPr lang="en-US">
                <a:latin typeface="Calibri"/>
              </a:rPr>
              <a:t>This study fills the gap using HMM, DCC-GARCH, spillovers, and regime-based performance metrics (2017–2025).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336550" y="167321"/>
            <a:ext cx="115158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Research Objective &amp; Questions</a:t>
            </a:r>
            <a:endParaRPr sz="340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336550" y="1279175"/>
            <a:ext cx="11515800" cy="5225100"/>
          </a:xfrm>
          <a:prstGeom prst="rect">
            <a:avLst/>
          </a:prstGeom>
          <a:noFill/>
          <a:ln w="9525" cap="flat" cmpd="sng">
            <a:solidFill>
              <a:srgbClr val="C3C3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425450" indent="-285750">
              <a:spcBef>
                <a:spcPts val="0"/>
              </a:spcBef>
            </a:pPr>
            <a:r>
              <a:rPr lang="en-US" sz="1800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Objective:</a:t>
            </a:r>
            <a:endParaRPr lang="en-US" sz="1800" b="1" u="sng">
              <a:latin typeface="Calibri"/>
              <a:ea typeface="Calibri"/>
              <a:cs typeface="Calibri"/>
            </a:endParaRPr>
          </a:p>
          <a:p>
            <a:pPr marL="596900" lvl="1" indent="0">
              <a:spcBef>
                <a:spcPts val="0"/>
              </a:spcBef>
              <a:buSzPts val="2200"/>
              <a:buNone/>
            </a:pP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lvl="1" indent="0">
              <a:spcBef>
                <a:spcPts val="0"/>
              </a:spcBef>
              <a:buSzPts val="2200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Investigate how cryptocurrency integration with traditional financial markets varies across market regimes (Bull, Stable, Bear) and assess crypto's role in portfolio diversification during different market conditions.</a:t>
            </a:r>
            <a:endParaRPr lang="en-US">
              <a:latin typeface="Calibri"/>
            </a:endParaRPr>
          </a:p>
          <a:p>
            <a:pPr marL="400050" indent="-285750">
              <a:lnSpc>
                <a:spcPct val="114999"/>
              </a:lnSpc>
              <a:spcBef>
                <a:spcPts val="1200"/>
              </a:spcBef>
            </a:pPr>
            <a:r>
              <a:rPr lang="en-US" sz="1800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Questions:</a:t>
            </a: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How do cryptocurrency correlations with traditional assets vary across bull, bear, and stable markets?</a:t>
            </a:r>
            <a:endParaRPr lang="en-US">
              <a:latin typeface="Calibri"/>
              <a:ea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Which asset classes lead market movements during regime transitions?</a:t>
            </a:r>
            <a:endParaRPr lang="en-US">
              <a:latin typeface="Calibri"/>
              <a:ea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Does crypto act as a risk-on or safe-haven asset under different market conditions?</a:t>
            </a:r>
            <a:endParaRPr lang="en-US">
              <a:latin typeface="Calibri"/>
              <a:ea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How do volatility, returns, and drawdowns of crypto vs traditional assets differ across market regimes?</a:t>
            </a:r>
            <a:endParaRPr lang="en-US">
              <a:latin typeface="Calibri"/>
              <a:ea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Has the degree of integration between crypto and traditional markets strengthened post-2020?</a:t>
            </a:r>
            <a:endParaRPr lang="en-US">
              <a:latin typeface="Calibri"/>
              <a:ea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</a:rPr>
              <a:t>What are the optimal portfolio allocations across different market regimes?</a:t>
            </a:r>
            <a:endParaRPr lang="en-US">
              <a:latin typeface="Calibri"/>
            </a:endParaRPr>
          </a:p>
          <a:p>
            <a:pPr marL="857250" lvl="1" indent="-285750">
              <a:lnSpc>
                <a:spcPct val="114999"/>
              </a:lnSpc>
              <a:spcBef>
                <a:spcPts val="1200"/>
              </a:spcBef>
              <a:buSzPts val="2200"/>
              <a:buFont typeface="Courier New"/>
              <a:buChar char="o"/>
            </a:pP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5B09-1F33-CEA2-44A0-F6ECCA7A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Qualitative Analysis (1/2)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DE4FC5-E2F4-CE5D-4C79-D6E7C509B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029360"/>
              </p:ext>
            </p:extLst>
          </p:nvPr>
        </p:nvGraphicFramePr>
        <p:xfrm>
          <a:off x="436274" y="1199831"/>
          <a:ext cx="11321061" cy="54845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3687">
                  <a:extLst>
                    <a:ext uri="{9D8B030D-6E8A-4147-A177-3AD203B41FA5}">
                      <a16:colId xmlns:a16="http://schemas.microsoft.com/office/drawing/2014/main" val="2509620456"/>
                    </a:ext>
                  </a:extLst>
                </a:gridCol>
                <a:gridCol w="3773687">
                  <a:extLst>
                    <a:ext uri="{9D8B030D-6E8A-4147-A177-3AD203B41FA5}">
                      <a16:colId xmlns:a16="http://schemas.microsoft.com/office/drawing/2014/main" val="3356742134"/>
                    </a:ext>
                  </a:extLst>
                </a:gridCol>
                <a:gridCol w="3773687">
                  <a:extLst>
                    <a:ext uri="{9D8B030D-6E8A-4147-A177-3AD203B41FA5}">
                      <a16:colId xmlns:a16="http://schemas.microsoft.com/office/drawing/2014/main" val="3940415259"/>
                    </a:ext>
                  </a:extLst>
                </a:gridCol>
              </a:tblGrid>
              <a:tr h="57288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/>
                        </a:rPr>
                        <a:t>Cryptocurrency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/>
                        </a:rPr>
                        <a:t>Traditional Investments (Gold / Stocks)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927516"/>
                  </a:ext>
                </a:extLst>
              </a:tr>
              <a:tr h="9459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 i="0" u="none" strike="noStrike" noProof="0">
                          <a:latin typeface="Calibri"/>
                        </a:rPr>
                        <a:t>Adoption &amp; Trust</a:t>
                      </a:r>
                      <a:endParaRPr lang="en-US" sz="1600" b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17% of U.S. adults have used or invested in crypto.</a:t>
                      </a:r>
                      <a:endParaRPr lang="en-US">
                        <a:latin typeface="Calibri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63% lack confidence in safety &amp; reliability.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4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Broad acceptance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High trust due to regulation &amp; long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08311"/>
                  </a:ext>
                </a:extLst>
              </a:tr>
              <a:tr h="1159103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Gender Participation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Strong male dominance (42% men Vs 17% women, age 18-29)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Similarly for </a:t>
                      </a:r>
                      <a:r>
                        <a:rPr lang="en-US" sz="1400" b="0" i="0" u="none" strike="noStrike" noProof="0">
                          <a:latin typeface="Calibri"/>
                        </a:rPr>
                        <a:t>36% of men ages 30 to 49 invested in crypto compared with 15% of women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Balanced participation across genders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47110"/>
                  </a:ext>
                </a:extLst>
              </a:tr>
              <a:tr h="96751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Age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Dominated by younger investors </a:t>
                      </a:r>
                    </a:p>
                    <a:p>
                      <a:pPr marL="0" lvl="0" indent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Stocks : all ages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Gold: Older investors (Shifting to millennials)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177630"/>
                  </a:ext>
                </a:extLst>
              </a:tr>
              <a:tr h="5195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Risk Appetite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Seen as high-risk, volatile &amp; Speculative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Leverage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Suited for risk-averse or moderate risk investors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083833"/>
                  </a:ext>
                </a:extLst>
              </a:tr>
              <a:tr h="125236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Investment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Investors start small &amp; increase allocation over time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Now attracts both retail and institutional investors (ETFs driving adoption)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Male trade more frequently.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Follow age-based allocation for stable risk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9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51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B0308-0988-2D50-C2D7-F9C94F10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87E7-86C8-93F1-3C55-DDA20A0B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Qualitative Analysis (2/2)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63572D-6DCF-F686-1321-A830B190C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59008"/>
              </p:ext>
            </p:extLst>
          </p:nvPr>
        </p:nvGraphicFramePr>
        <p:xfrm>
          <a:off x="436274" y="1199831"/>
          <a:ext cx="11321061" cy="53721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3687">
                  <a:extLst>
                    <a:ext uri="{9D8B030D-6E8A-4147-A177-3AD203B41FA5}">
                      <a16:colId xmlns:a16="http://schemas.microsoft.com/office/drawing/2014/main" val="2509620456"/>
                    </a:ext>
                  </a:extLst>
                </a:gridCol>
                <a:gridCol w="3773687">
                  <a:extLst>
                    <a:ext uri="{9D8B030D-6E8A-4147-A177-3AD203B41FA5}">
                      <a16:colId xmlns:a16="http://schemas.microsoft.com/office/drawing/2014/main" val="3356742134"/>
                    </a:ext>
                  </a:extLst>
                </a:gridCol>
                <a:gridCol w="3773687">
                  <a:extLst>
                    <a:ext uri="{9D8B030D-6E8A-4147-A177-3AD203B41FA5}">
                      <a16:colId xmlns:a16="http://schemas.microsoft.com/office/drawing/2014/main" val="3940415259"/>
                    </a:ext>
                  </a:extLst>
                </a:gridCol>
              </a:tblGrid>
              <a:tr h="72187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alibri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alibri"/>
                        </a:rPr>
                        <a:t>Cryptocurrency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alibri"/>
                        </a:rPr>
                        <a:t>Traditional Investments (Gold / Stocks)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927516"/>
                  </a:ext>
                </a:extLst>
              </a:tr>
              <a:tr h="11919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noProof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 i="0" u="none" strike="noStrike" noProof="0">
                          <a:latin typeface="Calibri"/>
                        </a:rPr>
                        <a:t>Holding Periods &amp; Turnover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Short – term, high turnover, momentum-driven trading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Panic spreads quickly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4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Long-term holding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Gold even held for decades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Less frequent turnover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08311"/>
                  </a:ext>
                </a:extLst>
              </a:tr>
              <a:tr h="2266362">
                <a:tc>
                  <a:txBody>
                    <a:bodyPr/>
                    <a:lstStyle/>
                    <a:p>
                      <a:pPr algn="ctr"/>
                      <a:endParaRPr lang="en-US" b="1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b="1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b="1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b="1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Motivations &amp; role in portfolio</a:t>
                      </a:r>
                      <a:endParaRPr lang="en-US" sz="160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Driven by decentralization ideology , FOMO, high – volatility payoff &amp; play money for experimentation.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Often a speculative or experimental component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Historically retail-driven but now seeing institutional exposure via ETFs.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400" b="0" i="0" u="none" strike="noStrike" noProof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Motivated by wealth preservation, long- term growth &amp; diversification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Selection driven by age-based risk appetite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Acts as a core portfolio asset (stocks for growth, gold for hedging)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47110"/>
                  </a:ext>
                </a:extLst>
              </a:tr>
              <a:tr h="1191939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600" b="1">
                          <a:latin typeface="Calibri"/>
                        </a:rPr>
                        <a:t>Safety &amp;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Lower perceived safety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Weak or fragmented regulation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History of fraud or hacks</a:t>
                      </a:r>
                    </a:p>
                    <a:p>
                      <a:pPr marL="0" lvl="0" indent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Strong regulatory oversight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Transparent reporting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latin typeface="Calibri"/>
                        </a:rPr>
                        <a:t>Higher legitimacy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177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757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36550" y="167321"/>
            <a:ext cx="115158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Framework</a:t>
            </a: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336550" y="1289581"/>
            <a:ext cx="5714335" cy="5225100"/>
          </a:xfrm>
          <a:prstGeom prst="rect">
            <a:avLst/>
          </a:prstGeom>
          <a:noFill/>
          <a:ln w="9525" cap="flat" cmpd="sng">
            <a:solidFill>
              <a:srgbClr val="C3C3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139700" lvl="0" indent="0" algn="ctr" rtl="0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200"/>
              <a:buNone/>
            </a:pPr>
            <a:endParaRPr lang="en-US" sz="1800" b="1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Data Prep &amp; Feature Engineering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Convert prices → daily returns; compute rolling volatility (20-day)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Align calendars across assets; forward-fill macro where needed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Standardize features (z-scores) to comparable scales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Regime Detection (ML)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Markov Model (HMM): Gaussian emissions; 3 states (bull/bear/stable).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Tune states via AIC/BIC; get state probabilities &amp; transition matrix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K-Means Clustering: K = 3 baseline; silhouette/ELBOW for sanity check.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 indent="-31750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Compare labels vs. HMM for consistency check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Validation &amp; Robustness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Subperiod analysis: 2017-2019, 2020-2021, 2022-2025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Alternative feature sets: test sensitivity to VIX exclusion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Train/test split (2017-2021 vs 2022-2025) for out-of-sample validation</a:t>
            </a: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4) Regime-Wise Metrics</a:t>
            </a:r>
            <a:endParaRPr lang="en-US" sz="1200"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Noto Sans Symbols,Sans-Serif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each regime: mean/volatility of returns, Sharpe ratios, maximum drawdowns</a:t>
            </a:r>
            <a:endParaRPr lang="en-US" sz="1200"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Noto Sans Symbols,Sans-Serif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Correlation matrices (crypto ↔ equities/gold/oil) by regime</a:t>
            </a:r>
            <a:endParaRPr lang="en-US" sz="1200"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Noto Sans Symbols,Sans-Serif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Risk-adjusted performance using actual regime-specific Treasury yields</a:t>
            </a:r>
            <a:endParaRPr lang="en-US"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6040450" y="1279175"/>
            <a:ext cx="5821200" cy="5225100"/>
          </a:xfrm>
          <a:prstGeom prst="rect">
            <a:avLst/>
          </a:prstGeom>
          <a:noFill/>
          <a:ln w="9525" cap="flat" cmpd="sng">
            <a:solidFill>
              <a:srgbClr val="C3C3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200"/>
              <a:buNone/>
            </a:pP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1200"/>
              </a:spcBef>
              <a:buNone/>
            </a:pP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5) 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sym typeface="Calibri"/>
              </a:rPr>
              <a:t>Lead-Lag &amp; Causality Analysis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Cross-correlation functions: which series leads at ±k lags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Granger causality tests at 3 tenors (5, 10, 20 days) to infer predictive direction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6) Macro Influence on Regimes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VIX and Treasury yield levels across regimes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Macro conditions at regime transition points</a:t>
            </a: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7) 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</a:rPr>
              <a:t>Portfolio Optimization</a:t>
            </a:r>
            <a:endParaRPr lang="en-US" sz="1200"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>
            <a:pPr>
              <a:buFont typeface="Noto Sans Symbols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 Sharpe ratio portfolios for each regime using actual risk-free rates</a:t>
            </a:r>
          </a:p>
          <a:p>
            <a:pPr>
              <a:buFont typeface="Noto Sans Symbols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Regime-aware vs static strategy </a:t>
            </a:r>
            <a:r>
              <a:rPr lang="en-US" sz="1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backtesting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Noto Sans Symbols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Risk-return tradeoff analysis</a:t>
            </a: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8) Visualization &amp; Reporting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Timeline with colored regimes overlaid on prices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Correlation heatmaps by regime, efficient frontiers</a:t>
            </a:r>
          </a:p>
          <a:p>
            <a:pPr>
              <a:buSzPts val="1400"/>
              <a:buFont typeface="Noto Sans Symbols" panose="020B0604020202020204" pitchFamily="34" charset="0"/>
              <a:buChar char="▪"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Cumulative performance comparison charts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EB30-81AC-85C6-007F-E430DFBA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(1/5)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B83A7-E9DD-97AD-067E-305F67D76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0625" y="1535538"/>
            <a:ext cx="4937766" cy="3300113"/>
          </a:xfrm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Regime Timeline Validation (2017-2025)</a:t>
            </a:r>
            <a:endParaRPr lang="en-US" sz="1400">
              <a:ea typeface="Calibri"/>
            </a:endParaRPr>
          </a:p>
          <a:p>
            <a:pPr>
              <a:buNone/>
            </a:pP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Distribution:</a:t>
            </a:r>
            <a:endParaRPr lang="en-US" sz="1400"/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Stable: 1,146 days (52%)</a:t>
            </a:r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Bull: 376 days (17%)</a:t>
            </a:r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Bear: 685 days (31%)</a:t>
            </a:r>
          </a:p>
          <a:p>
            <a:pPr marL="742950" lvl="1" indent="-285750">
              <a:buFont typeface="Courier New"/>
              <a:buChar char="o"/>
            </a:pP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Key Validations:</a:t>
            </a:r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Regime colors align with price trends across all assets</a:t>
            </a:r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VIX confirms regime classification (12.1 Bull, 16.4 Stable, 26.8 Bear)</a:t>
            </a:r>
          </a:p>
          <a:p>
            <a:pPr marL="742950" lvl="1" indent="-285750">
              <a:buSzPts val="2200"/>
              <a:buFont typeface="Courier New"/>
              <a:buChar char="o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Major events captured: 2018 crash, COVID-20, 2021 bull run, 2022 bear, 2024-25 volatility</a:t>
            </a:r>
          </a:p>
          <a:p>
            <a:pPr>
              <a:buNone/>
            </a:pP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757030-098C-C92C-0A1A-7BCD0436F801}"/>
              </a:ext>
            </a:extLst>
          </p:cNvPr>
          <p:cNvSpPr txBox="1">
            <a:spLocks/>
          </p:cNvSpPr>
          <p:nvPr/>
        </p:nvSpPr>
        <p:spPr>
          <a:xfrm>
            <a:off x="6896471" y="4965906"/>
            <a:ext cx="4456925" cy="114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None/>
            </a:pP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4800">
                <a:solidFill>
                  <a:srgbClr val="000000"/>
                </a:solidFill>
                <a:latin typeface="Calibri"/>
                <a:ea typeface="Calibri"/>
              </a:rPr>
              <a:t>Model detects persistent market state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92929-994B-84D7-D607-446B7A02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57" y="1219449"/>
            <a:ext cx="6215810" cy="54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0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9442E-C474-7783-5254-285042D8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28CF-094E-278F-8B4C-8DEA8BE4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(2/5)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68AA-CF61-BA57-B685-396411ED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1" y="5182696"/>
            <a:ext cx="4367464" cy="1129718"/>
          </a:xfrm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Crypto-Equity Correlations Spike in Bear Markets</a:t>
            </a:r>
            <a:endParaRPr lang="en-US" sz="1400">
              <a:latin typeface="Calibri"/>
              <a:cs typeface="Calibri"/>
            </a:endParaRPr>
          </a:p>
          <a:p>
            <a:pPr marL="285750" indent="-285750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BTC-SP500: 0.07 → 0.38 (5x increase)</a:t>
            </a:r>
          </a:p>
          <a:p>
            <a:pPr marL="285750" indent="-285750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ETH-SP500: 0.12 → 0.39 (3x increase)</a:t>
            </a:r>
          </a:p>
          <a:p>
            <a:pPr marL="285750" indent="-285750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Gold stays independent: 0.00 → 0.18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CAEE6-0451-1FF8-A776-CBDB93988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866"/>
            <a:ext cx="12189737" cy="3683667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A8CA76-F42E-7499-32C7-353C96291376}"/>
              </a:ext>
            </a:extLst>
          </p:cNvPr>
          <p:cNvSpPr txBox="1">
            <a:spLocks/>
          </p:cNvSpPr>
          <p:nvPr/>
        </p:nvSpPr>
        <p:spPr>
          <a:xfrm>
            <a:off x="4704719" y="5178470"/>
            <a:ext cx="4087906" cy="112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Font typeface="Noto Sans Symbols"/>
              <a:buNone/>
            </a:pP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 Diversification fails when you need it most</a:t>
            </a:r>
            <a:endParaRPr lang="en-US"/>
          </a:p>
          <a:p>
            <a:pPr marL="88900" indent="0" algn="just">
              <a:buFont typeface="Noto Sans Symbols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2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3793-5B20-7F2A-7505-EFB9AA2C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014A-3EB4-D0B6-DC48-DBECD39B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(3/5)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B7F21-4A32-BE14-9C2B-7803850F5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379" y="1707642"/>
            <a:ext cx="5577997" cy="1129718"/>
          </a:xfrm>
        </p:spPr>
        <p:txBody>
          <a:bodyPr spcFirstLastPara="1" wrap="square" lIns="121875" tIns="60925" rIns="121875" bIns="60925" anchor="t" anchorCtr="0">
            <a:noAutofit/>
          </a:bodyPr>
          <a:lstStyle/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"The 2020 Structural Break"</a:t>
            </a:r>
          </a:p>
          <a:p>
            <a:pPr marL="285750" indent="-285750"/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2017-2019: Crypto independent from equities (Bear </a:t>
            </a:r>
            <a:r>
              <a:rPr lang="en-US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~0.03-0.04)</a:t>
            </a:r>
          </a:p>
          <a:p>
            <a:pPr marL="285750" indent="-285750"/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2020-2021: Institutional adoption triggers correlation spike (Bear </a:t>
            </a:r>
            <a:r>
              <a:rPr lang="en-US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0.417)</a:t>
            </a:r>
          </a:p>
          <a:p>
            <a:pPr marL="285750" indent="-285750"/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2022-2025: Integration intensifies further (Bear </a:t>
            </a:r>
            <a:r>
              <a:rPr lang="en-US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&gt;0.51)</a:t>
            </a:r>
          </a:p>
          <a:p>
            <a:pPr>
              <a:buNone/>
            </a:pP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8B23748-43B9-1EC7-A274-B413C1816D11}"/>
              </a:ext>
            </a:extLst>
          </p:cNvPr>
          <p:cNvSpPr txBox="1">
            <a:spLocks/>
          </p:cNvSpPr>
          <p:nvPr/>
        </p:nvSpPr>
        <p:spPr>
          <a:xfrm>
            <a:off x="533659" y="4210865"/>
            <a:ext cx="5148663" cy="112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 Crypto transformed from independent asset to high-beta equity proxy</a:t>
            </a:r>
            <a:endParaRPr lang="en-US"/>
          </a:p>
          <a:p>
            <a:pPr marL="88900" indent="0" algn="just">
              <a:buFont typeface="Noto Sans Symbols"/>
              <a:buNone/>
            </a:pPr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EED7B4-058B-A2FF-69CB-8B83D7A3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697" y="1507511"/>
            <a:ext cx="5420792" cy="39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49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5053E-B760-43FA-1256-9E7AC2CD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4323-F54C-E757-EE9B-DD4137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(4/5)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8F0FC241-47DF-14D7-D164-FE94FD9E6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3" y="1210606"/>
            <a:ext cx="3988497" cy="54617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08B15E-44C2-689D-8B29-78ECB9D2864F}"/>
              </a:ext>
            </a:extLst>
          </p:cNvPr>
          <p:cNvSpPr txBox="1"/>
          <p:nvPr/>
        </p:nvSpPr>
        <p:spPr>
          <a:xfrm>
            <a:off x="5157853" y="1467468"/>
            <a:ext cx="5121533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Optimal crypto allocation is 3-12% (much lower than commonly assumed)</a:t>
            </a:r>
          </a:p>
          <a:p>
            <a:pPr marL="285750" indent="-285750"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ETH never appears in optimal portfolios (BTC preferred due to lower volatility)</a:t>
            </a:r>
          </a:p>
          <a:p>
            <a:pPr marL="285750" indent="-285750"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Gold allocation spikes from 9% → 88% in Bear regimes</a:t>
            </a:r>
            <a:endParaRPr lang="en-US"/>
          </a:p>
          <a:p>
            <a:pPr marL="285750" indent="-285750"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NASDAQ never appears (redundant with SP500)</a:t>
            </a:r>
            <a:endParaRPr lang="en-US"/>
          </a:p>
          <a:p>
            <a:pPr algn="l"/>
            <a:endParaRPr lang="en-US" sz="16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0B1811-5014-EC21-4E55-18E2FA1B354D}"/>
              </a:ext>
            </a:extLst>
          </p:cNvPr>
          <p:cNvSpPr txBox="1">
            <a:spLocks/>
          </p:cNvSpPr>
          <p:nvPr/>
        </p:nvSpPr>
        <p:spPr>
          <a:xfrm>
            <a:off x="4838886" y="4277990"/>
            <a:ext cx="6848389" cy="112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</a:rPr>
              <a:t>Dynamic regime-based allocation significantly improves risk-adjusted returns by shifting from growth assets (SP500) to defensive positioning (Gold) during market stress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8900" indent="0" algn="just">
              <a:buFont typeface="Noto Sans Symbols"/>
              <a:buNone/>
            </a:pPr>
            <a:endParaRPr lang="en-US" sz="24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45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AFA2-FEA3-D6DF-4CA3-5A05D7E6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379D-C949-5402-42BB-E4DBECEB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Quantitative Analysis (5/5)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3B149839-98F3-6365-C6F3-6EFBBA5C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23" y="1224348"/>
            <a:ext cx="6149038" cy="5458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84F7E-F2C7-F55F-AF49-0654EEFB9718}"/>
              </a:ext>
            </a:extLst>
          </p:cNvPr>
          <p:cNvSpPr txBox="1"/>
          <p:nvPr/>
        </p:nvSpPr>
        <p:spPr>
          <a:xfrm>
            <a:off x="331490" y="1228168"/>
            <a:ext cx="5215453" cy="4739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latin typeface="Calibri"/>
                <a:ea typeface="Calibri"/>
                <a:cs typeface="Calibri"/>
              </a:rPr>
              <a:t>Trade absolute returns for superior risk management </a:t>
            </a:r>
            <a:endParaRPr lang="en-US"/>
          </a:p>
          <a:p>
            <a:pPr marL="742950" lvl="1" indent="-285750" algn="just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Static achieves higher total returns but suffers catastrophic drawdowns</a:t>
            </a:r>
          </a:p>
          <a:p>
            <a:pPr marL="742950" lvl="1" indent="-285750" algn="just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Regime-aware sacrifices upside to preserve capital during stress</a:t>
            </a:r>
          </a:p>
          <a:p>
            <a:pPr marL="457200" lvl="1" algn="just"/>
            <a:endParaRPr lang="en-US" sz="16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600">
                <a:latin typeface="Calibri"/>
                <a:ea typeface="Calibri"/>
                <a:cs typeface="Calibri"/>
              </a:rPr>
              <a:t>Cumulative return chart shows the tradeoff visually </a:t>
            </a:r>
          </a:p>
          <a:p>
            <a:pPr marL="742950" lvl="1" indent="-285750" algn="just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Static (gray): Reaches ~6x but with violent 50%+ drawdowns</a:t>
            </a:r>
          </a:p>
          <a:p>
            <a:pPr marL="742950" lvl="1" indent="-285750" algn="just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Regime-aware (red): Reaches ~5x with smooth, controlled progression</a:t>
            </a:r>
          </a:p>
          <a:p>
            <a:pPr marL="742950" lvl="1" indent="-285750" algn="just"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600">
                <a:latin typeface="Calibri"/>
                <a:ea typeface="Calibri"/>
                <a:cs typeface="Calibri"/>
              </a:rPr>
              <a:t>Risk-adjusted performance dramatically improves </a:t>
            </a:r>
          </a:p>
          <a:p>
            <a:pPr marL="742950" lvl="1" indent="-285750" algn="just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Sharpe ratio improves 53% through dynamic regime-based allocation</a:t>
            </a:r>
          </a:p>
          <a:p>
            <a:pPr marL="742950" lvl="1" indent="-285750" algn="just"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Maximum drawdown cut in half by shifting to Gold during Bear regimes</a:t>
            </a:r>
          </a:p>
          <a:p>
            <a:pPr marL="285750" indent="-285750" algn="just"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 algn="just">
              <a:buChar char="•"/>
            </a:pP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C82203B-A7C0-DEAF-057D-ACD83CEFCCF0}"/>
              </a:ext>
            </a:extLst>
          </p:cNvPr>
          <p:cNvSpPr txBox="1">
            <a:spLocks/>
          </p:cNvSpPr>
          <p:nvPr/>
        </p:nvSpPr>
        <p:spPr>
          <a:xfrm>
            <a:off x="2121" y="5391256"/>
            <a:ext cx="5554370" cy="111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</a:rPr>
              <a:t>Regime-aware strategy delivers superior risk-adjusted returns by dynamically shifting from growth (SP500) to defense (Gold) based on market conditions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8900" indent="0" algn="just">
              <a:buFont typeface="Noto Sans Symbols"/>
              <a:buNone/>
            </a:pPr>
            <a:endParaRPr lang="en-US" sz="20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9816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3A83-BB9A-EE99-B2A7-90ED2EEA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1E6F5-6C5B-DBE2-77B6-85904E9B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1" y="1101860"/>
            <a:ext cx="11638730" cy="4316575"/>
          </a:xfrm>
        </p:spPr>
        <p:txBody>
          <a:bodyPr spcFirstLastPara="1" wrap="square" lIns="121875" tIns="60925" rIns="121875" bIns="60925" anchor="t" anchorCtr="0">
            <a:noAutofit/>
          </a:bodyPr>
          <a:lstStyle/>
          <a:p>
            <a:r>
              <a:rPr lang="en-US" sz="1400">
                <a:latin typeface="Calibri"/>
              </a:rPr>
              <a:t>Post-2020, crypto shifted from independent asset to high-beta risk-on instrument driven by institutional adoption.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Crypto-equity correlations spike in Bear (BTC–S&amp;P: 0.07 → 0.43), eliminating diversification when needed most.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HMM identified three regimes (Bull 17%, Stable 52%, Bear 31%) with VIX clearly distinguishing conditions (12.1/16.4/26.8).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Crypto is regime-dependent: exceptional Bull returns (ETH 220%, BTC 104%) but Sharpe collapses in Bear (1.62 → 0.10).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Gold is the only consistent hedge, maintaining positive Sharpe and receiving 88% allocation in Bear.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BTC leads equities (Granger causality) but unsuitable as defensive hedge due to 80%+ drawdowns.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Actual regime-specific Treasury yields (2.29%/3.32%/2.11%) reveal Stable's high hurdle, increasing Gold's importance.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Regime-aware allocation outperforms static: +53% Sharpe (0.78 → 1.19), -52% drawdown (-56% → -27%).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Optimal crypto remains modest (3–12%), with ETH rarely included due to excessive volatility.</a:t>
            </a:r>
            <a:endParaRPr lang="en-US" sz="1400"/>
          </a:p>
          <a:p>
            <a:endParaRPr lang="en-US" sz="1400">
              <a:latin typeface="Calibri"/>
            </a:endParaRPr>
          </a:p>
          <a:p>
            <a:r>
              <a:rPr lang="en-US" sz="1400">
                <a:latin typeface="Calibri"/>
              </a:rPr>
              <a:t>"Digital gold" narrative unsupported; crypto is amplified equity, not safe haven; reduce when VIX &gt; 20.</a:t>
            </a:r>
            <a:endParaRPr lang="en-US" sz="1400"/>
          </a:p>
          <a:p>
            <a:endParaRPr lang="en-US" sz="14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62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D19F-501F-3327-8DFF-26624819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Limitations &amp; Future Enhancement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A4C47-B1C7-AD60-1132-148402C96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1" y="1401917"/>
            <a:ext cx="5220029" cy="44586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1800" b="1" u="sng">
                <a:latin typeface="Calibri"/>
              </a:rPr>
              <a:t>Limitations</a:t>
            </a:r>
          </a:p>
          <a:p>
            <a:pPr>
              <a:buNone/>
            </a:pPr>
            <a:endParaRPr lang="en-US" sz="1600">
              <a:latin typeface="Calibri"/>
            </a:endParaRPr>
          </a:p>
          <a:p>
            <a:pPr marL="285750" indent="-285750"/>
            <a:r>
              <a:rPr lang="en-US" sz="1600">
                <a:latin typeface="Calibri"/>
              </a:rPr>
              <a:t>Regime detection lag prevents perfect real-time identification of market state transitions</a:t>
            </a:r>
          </a:p>
          <a:p>
            <a:pPr marL="285750" indent="-285750"/>
            <a:endParaRPr lang="en-US" sz="1600">
              <a:latin typeface="Calibri"/>
            </a:endParaRPr>
          </a:p>
          <a:p>
            <a:pPr marL="285750" indent="-285750"/>
            <a:r>
              <a:rPr lang="en-US" sz="1600">
                <a:latin typeface="Calibri"/>
              </a:rPr>
              <a:t>Limited to 2 cryptocurrencies and 6 assets; may not generalize to broader markets</a:t>
            </a:r>
          </a:p>
          <a:p>
            <a:pPr marL="285750" indent="-285750"/>
            <a:endParaRPr lang="en-US" sz="1600">
              <a:latin typeface="Calibri"/>
            </a:endParaRPr>
          </a:p>
          <a:p>
            <a:pPr marL="285750" indent="-285750"/>
            <a:r>
              <a:rPr lang="en-US" sz="1600">
                <a:latin typeface="Calibri"/>
              </a:rPr>
              <a:t>Post-2020 findings are period-specific; no guarantee of persistence with future market changes</a:t>
            </a:r>
          </a:p>
          <a:p>
            <a:pPr marL="285750" indent="-285750"/>
            <a:endParaRPr lang="en-US" sz="1600">
              <a:latin typeface="Calibri"/>
            </a:endParaRPr>
          </a:p>
          <a:p>
            <a:pPr marL="285750" indent="-285750"/>
            <a:r>
              <a:rPr lang="en-US" sz="1600">
                <a:latin typeface="Calibri"/>
              </a:rPr>
              <a:t>Transaction costs ignored; real-world rebalancing could reduce strategy advantages</a:t>
            </a:r>
          </a:p>
          <a:p>
            <a:pPr marL="285750" indent="-285750"/>
            <a:endParaRPr lang="en-US" sz="1600">
              <a:latin typeface="Calibri"/>
            </a:endParaRPr>
          </a:p>
          <a:p>
            <a:pPr marL="285750" indent="-285750"/>
            <a:r>
              <a:rPr lang="en-US" sz="1600">
                <a:latin typeface="Calibri"/>
              </a:rPr>
              <a:t>Out-of-sample test (2022-2025) showed no Bull regime; regime distributions may shift</a:t>
            </a:r>
          </a:p>
          <a:p>
            <a:pPr marL="88900" indent="0">
              <a:buNone/>
            </a:pPr>
            <a:endParaRPr lang="en-US" sz="1600">
              <a:latin typeface="Calibri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D0FB5E-32F8-116C-93B7-AE6116E407A3}"/>
              </a:ext>
            </a:extLst>
          </p:cNvPr>
          <p:cNvSpPr txBox="1">
            <a:spLocks/>
          </p:cNvSpPr>
          <p:nvPr/>
        </p:nvSpPr>
        <p:spPr>
          <a:xfrm>
            <a:off x="6091338" y="1397691"/>
            <a:ext cx="5220029" cy="44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24242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n-US" sz="2100" b="1" u="sng">
                <a:latin typeface="Calibri"/>
              </a:rPr>
              <a:t>Future Enhancement</a:t>
            </a:r>
            <a:endParaRPr lang="en-US" b="1" u="sng"/>
          </a:p>
          <a:p>
            <a:pPr>
              <a:buNone/>
            </a:pPr>
            <a:endParaRPr lang="en-US" sz="2100">
              <a:latin typeface="Calibri"/>
            </a:endParaRPr>
          </a:p>
          <a:p>
            <a:r>
              <a:rPr lang="en-US" sz="1900">
                <a:latin typeface="Calibri"/>
              </a:rPr>
              <a:t>Develop automated investment products and trading systems based on regime-aware allocation strategies</a:t>
            </a:r>
          </a:p>
          <a:p>
            <a:endParaRPr lang="en-US" sz="1900">
              <a:latin typeface="Calibri"/>
            </a:endParaRPr>
          </a:p>
          <a:p>
            <a:r>
              <a:rPr lang="en-US" sz="1900">
                <a:latin typeface="Calibri"/>
              </a:rPr>
              <a:t>Expand analysis to global markets including emerging economies, currencies, and alternative asset classes</a:t>
            </a:r>
          </a:p>
          <a:p>
            <a:endParaRPr lang="en-US" sz="1900">
              <a:latin typeface="Calibri"/>
            </a:endParaRPr>
          </a:p>
          <a:p>
            <a:r>
              <a:rPr lang="en-US" sz="1900">
                <a:latin typeface="Calibri"/>
              </a:rPr>
              <a:t>Test strategies across different investor profiles (retail vs institutional, varying risk tolerances)</a:t>
            </a:r>
            <a:endParaRPr lang="en-US"/>
          </a:p>
          <a:p>
            <a:endParaRPr lang="en-US" sz="1900">
              <a:latin typeface="Calibri"/>
            </a:endParaRPr>
          </a:p>
          <a:p>
            <a:r>
              <a:rPr lang="en-US" sz="1900">
                <a:latin typeface="Calibri"/>
              </a:rPr>
              <a:t>Examine regulatory impact of crypto classification changes on market integration and portfolio implications</a:t>
            </a:r>
            <a:endParaRPr lang="en-US"/>
          </a:p>
          <a:p>
            <a:endParaRPr lang="en-US" sz="1900">
              <a:latin typeface="Calibri"/>
            </a:endParaRPr>
          </a:p>
          <a:p>
            <a:r>
              <a:rPr lang="en-US" sz="1900">
                <a:latin typeface="Calibri"/>
              </a:rPr>
              <a:t>Build real-time dashboards for practitioners to monitor regime probabilities and receive allocation recommendations</a:t>
            </a:r>
            <a:endParaRPr lang="en-US"/>
          </a:p>
          <a:p>
            <a:pPr marL="285750" indent="-285750"/>
            <a:endParaRPr lang="en-US" sz="2100">
              <a:latin typeface="Calibri"/>
            </a:endParaRPr>
          </a:p>
          <a:p>
            <a:pPr>
              <a:buFont typeface="Noto Sans Symbols"/>
              <a:buNone/>
            </a:pPr>
            <a:endParaRPr lang="en-US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5E40FF-BA63-91DC-DA64-DBAEE3359903}"/>
              </a:ext>
            </a:extLst>
          </p:cNvPr>
          <p:cNvCxnSpPr/>
          <p:nvPr/>
        </p:nvCxnSpPr>
        <p:spPr>
          <a:xfrm flipH="1">
            <a:off x="5721511" y="2091558"/>
            <a:ext cx="14047" cy="343190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08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1AE1-B5C7-0A6D-09E1-87503740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References: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7B80-6B9A-3A8C-09E3-6DDE6CAE4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450" y="1103266"/>
            <a:ext cx="11943450" cy="5452594"/>
          </a:xfrm>
        </p:spPr>
        <p:txBody>
          <a:bodyPr spcFirstLastPara="1" wrap="square" lIns="121875" tIns="60925" rIns="121875" bIns="60925" anchor="t" anchorCtr="0">
            <a:noAutofit/>
          </a:bodyPr>
          <a:lstStyle/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International Monetary Fund (IMF) and Financial Stability Board (FSB), “IMF–FSB Synthesis Paper: Policies for Crypto-Assets,” Sept. 2023.  [Online]. Available: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https://www.fsb.org/uploads/R070923-1.pdf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H. Sebastião and P. Godinho, “Forecasting and trading cryptocurrencies with machine learning under changing market conditions,” Financial Innovation, vol. 7, no. 1, pp. 1–30, 2021,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10.1186/s40854-020-00217-x.</a:t>
            </a: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L. Suárez-Cetrulo, D.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Quintana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and A. Cervantes, “Machine learning for  financial prediction under regime change using technical analysis: A systematic review,” International Journal of Interactive Multimedia and Artificial Intelligence, vol. 9, no. 1, pp. 137–148, 2024,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10.9781/ijimai.2023.06.003.</a:t>
            </a: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Koutrouli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Manousopoulos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J. Theal and L.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Tresso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“Crypto asset markets vs. financial markets: Event identification, latest insights and analyses,”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AppliedMath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vol. 5, no. 2, Art. no. 36, 2025,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10.3390/appliedmath5020036.</a:t>
            </a: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U. Kayani, M. Ullah, A. F. Aysan, S. Nazir and J. Frempong, “Quantile connectedness among digital assets, traditional assets, and renewable energy prices during extreme economic crisis,” Technological Forecasting and Social Change, vol. 208, Art. no. 123635, 2024,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10.1016/j.techfore.2024.123635.</a:t>
            </a: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O. Sidoti, “Majority of Americans aren’t confident in the safety and reliability of cryptocurrency,” Pew Research Center, Oct. 24, 2024.  [Online]. Available: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https://www.pewresearch.org/short-reads/2024/10/24/majority-of-americans-arent-confident-in-the-safety-and-reliability-of-cryptocurrency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Goldmarket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Editorial Team, “The implications of demographic changes on  gold demand,”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Goldmarket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Apr. 28, 2025. [Online]. Available:</a:t>
            </a:r>
          </a:p>
          <a:p>
            <a:pPr marL="88900" indent="0"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https://www.goldmarket.fr/en/the-implications-of-demographic-changes-on-the-demand-for-gold/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F. Hayashi and A. Routh, “Financial literacy, risk tolerance, and cryptocurrency ownership in the United States,” Research Working Paper RWP 24-03, Federal Reserve Bank of Kansas City, 2024.  [Online]. Available: 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https://www.kansascityfed.org/research/research-working-papers/financial-literacy-risk-tolerance-and-cryptocurrency-ownership-in-the-united-states/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D. Aiello, S. R. Baker, T.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Balyuk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M. Di Maggio, M. J. Johnson and  J. D. Kotter, “Who invests in Crypto? Wealth, financial constraints, and risk attitudes,” NBER Working Paper 31856, National Bureau of Economic Research, Nov. 2023. [Online]. Available: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https://www.nber.org/papers/w31856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Y. Liu and A. 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Tsyvinski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“Risks and returns of cryptocurrency,” Review of Financial Studies, vol. 34, no. 6, pp. 2689–2727, 2021,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doi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10.1093/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rfs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/hhaa113.</a:t>
            </a:r>
          </a:p>
          <a:p>
            <a:pPr marL="374650" indent="-285750"/>
            <a:endParaRPr lang="en-US" sz="1200">
              <a:solidFill>
                <a:srgbClr val="0070C0"/>
              </a:solidFill>
            </a:endParaRPr>
          </a:p>
          <a:p>
            <a:endParaRPr lang="en-US" sz="1400">
              <a:solidFill>
                <a:srgbClr val="2D2D2D"/>
              </a:solidFill>
            </a:endParaRPr>
          </a:p>
          <a:p>
            <a:endParaRPr lang="en-US" sz="1400">
              <a:solidFill>
                <a:srgbClr val="2D2D2D"/>
              </a:solidFill>
            </a:endParaRPr>
          </a:p>
          <a:p>
            <a:endParaRPr lang="en-US" sz="1400">
              <a:solidFill>
                <a:srgbClr val="2D2D2D"/>
              </a:solidFill>
            </a:endParaRPr>
          </a:p>
          <a:p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85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title"/>
          </p:nvPr>
        </p:nvSpPr>
        <p:spPr>
          <a:xfrm>
            <a:off x="599103" y="2377757"/>
            <a:ext cx="10969943" cy="1684119"/>
          </a:xfrm>
        </p:spPr>
        <p:txBody>
          <a:bodyPr spcFirstLastPara="1" wrap="square" lIns="121875" tIns="60925" rIns="121875" bIns="609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"/>
          </p:nvPr>
        </p:nvSpPr>
        <p:spPr>
          <a:xfrm>
            <a:off x="599103" y="4169781"/>
            <a:ext cx="10984755" cy="1631951"/>
          </a:xfrm>
        </p:spPr>
        <p:txBody>
          <a:bodyPr spcFirstLastPara="1" wrap="square" lIns="121875" tIns="60925" rIns="121875" bIns="60925" anchor="t" anchorCtr="0">
            <a:normAutofit/>
          </a:bodyPr>
          <a:lstStyle/>
          <a:p>
            <a:pPr marL="0" indent="0"/>
            <a:r>
              <a:rPr lang="en-US">
                <a:latin typeface="Calibri"/>
                <a:ea typeface="Calibri"/>
              </a:rPr>
              <a:t>We are open to discussions!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U Primary &amp; Secondary">
      <a:dk1>
        <a:srgbClr val="2D2D2D"/>
      </a:dk1>
      <a:lt1>
        <a:srgbClr val="FFFFFF"/>
      </a:lt1>
      <a:dk2>
        <a:srgbClr val="303030"/>
      </a:dk2>
      <a:lt2>
        <a:srgbClr val="EEECE1"/>
      </a:lt2>
      <a:accent1>
        <a:srgbClr val="FEA60A"/>
      </a:accent1>
      <a:accent2>
        <a:srgbClr val="860025"/>
      </a:accent2>
      <a:accent3>
        <a:srgbClr val="448003"/>
      </a:accent3>
      <a:accent4>
        <a:srgbClr val="0E78D0"/>
      </a:accent4>
      <a:accent5>
        <a:srgbClr val="F26609"/>
      </a:accent5>
      <a:accent6>
        <a:srgbClr val="9F9580"/>
      </a:accent6>
      <a:hlink>
        <a:srgbClr val="0C6AFD"/>
      </a:hlink>
      <a:folHlink>
        <a:srgbClr val="7D6DE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2576</Words>
  <Application>Microsoft Office PowerPoint</Application>
  <PresentationFormat>Custom</PresentationFormat>
  <Paragraphs>293</Paragraphs>
  <Slides>20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Digital Asset Integration in Global Financial Cycles: A Regime Switching Perspective </vt:lpstr>
      <vt:lpstr>Agenda:</vt:lpstr>
      <vt:lpstr>Introduction (1/2)</vt:lpstr>
      <vt:lpstr>Introduction (2/2)</vt:lpstr>
      <vt:lpstr>Literature Review (1/3) </vt:lpstr>
      <vt:lpstr>Literature Review (2/3)</vt:lpstr>
      <vt:lpstr>Literature Review (3/3)</vt:lpstr>
      <vt:lpstr>Research Objective &amp; Questions</vt:lpstr>
      <vt:lpstr>Qualitative Analysis (1/2)</vt:lpstr>
      <vt:lpstr>Qualitative Analysis (2/2)</vt:lpstr>
      <vt:lpstr>Quantitative Analysis Framework</vt:lpstr>
      <vt:lpstr>Quantitative Analysis (1/5)</vt:lpstr>
      <vt:lpstr>Quantitative Analysis (2/5)</vt:lpstr>
      <vt:lpstr>Quantitative Analysis (3/5)</vt:lpstr>
      <vt:lpstr>Quantitative Analysis (4/5)</vt:lpstr>
      <vt:lpstr>Quantitative Analysis (5/5)</vt:lpstr>
      <vt:lpstr>Conclusion</vt:lpstr>
      <vt:lpstr>Limitations &amp; Future Enhancement</vt:lpstr>
      <vt:lpstr>References: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Piyush Gautam</dc:creator>
  <cp:lastModifiedBy>Piyush Gautam (Student)</cp:lastModifiedBy>
  <cp:revision>4</cp:revision>
  <dcterms:modified xsi:type="dcterms:W3CDTF">2025-12-09T18:26:01Z</dcterms:modified>
</cp:coreProperties>
</file>